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59" r:id="rId4"/>
    <p:sldId id="260" r:id="rId5"/>
    <p:sldId id="272" r:id="rId6"/>
    <p:sldId id="273" r:id="rId7"/>
    <p:sldId id="274" r:id="rId8"/>
    <p:sldId id="275" r:id="rId9"/>
    <p:sldId id="276" r:id="rId10"/>
    <p:sldId id="261" r:id="rId11"/>
    <p:sldId id="262" r:id="rId12"/>
    <p:sldId id="263" r:id="rId13"/>
    <p:sldId id="264" r:id="rId14"/>
    <p:sldId id="265" r:id="rId15"/>
    <p:sldId id="266" r:id="rId16"/>
    <p:sldId id="271"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Getting to the right file is where agents lose time, and it compounds as codebases grow. Generation is out of scope, so we treat this purely as ranking.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the reranker and the BM25 fusion the guidelines hint at, measured both, and they made the stronger encoder worse.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encoder for both sides, vectors keyed by the exact text, one search path for every command.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step was a significant win on a paired bootstrap before it replaced the artifact. The 2,765 test queries outside the sample were never used for any choice.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Negative results are results. We built every axis in the guidelines and measured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“training questions only” twice. Held out, train answers removed, and no leak: three separate checks.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Unchanged code is never re-encoded, in any version.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guidelines warn that versions look alike. Collapse is the answer: 4 distinct functions become 10 of 10.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Plain English, no special syntax. Do not rehearse the six questions before recording: a repeated question is served from the vector cache and shows 3.5 ms instead of the honest ~80 ms.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Peak RAM 2.3 GB, index 71 MB for npm, cold start 10 to 14 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Matching published numbers on data we never tuned on is the strongest evidence that the pipeline is faithful to the model.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slide of limitations earns more trust than it costs. End on the number: 0.60952, reproducible, CPU-only.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item comes from a measured failure, not a wish list.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judge can verify the score in one command.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kamneevsingh410/VIT_DEBUG907"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vh2xW-vu988"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39" y="3310128"/>
            <a:ext cx="6891643" cy="21945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Project - debug907: natural-language code retrieval on a CPU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- 01, Agentic Code Intelligence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VITV_DEBUG907</a:t>
            </a:r>
            <a:endParaRPr lang="en-US" sz="1600" b="1" dirty="0">
              <a:solidFill>
                <a:srgbClr val="C0392B"/>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Vellore Institute of Technology, Vellore</a:t>
            </a:r>
            <a:endParaRPr lang="en-US" sz="1600" b="1" dirty="0">
              <a:solidFill>
                <a:srgbClr val="C0392B"/>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Kamneev Singh, kamneev.singh2025@vitstudent.ac.in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2- Aadvik Chawla, aadvik.chawla2025@vitstudent.ac.in</a:t>
            </a:r>
            <a:endParaRPr lang="en-US" sz="1600" b="1" dirty="0">
              <a:solidFill>
                <a:srgbClr val="C0392B"/>
              </a:solidFill>
              <a:latin typeface="Calibri" pitchFamily="34" charset="0"/>
              <a:ea typeface="Calibri" pitchFamily="34" charset="-122"/>
              <a:cs typeface="Calibri" pitchFamily="34" charset="-120"/>
            </a:endParaRP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Github link - </a:t>
            </a:r>
            <a:r>
              <a:rPr lang="en-US" sz="1600" dirty="0">
                <a:solidFill>
                  <a:srgbClr val="63637E"/>
                </a:solidFill>
                <a:latin typeface="Calibri" pitchFamily="34" charset="0"/>
                <a:ea typeface="Calibri" pitchFamily="34" charset="-122"/>
                <a:cs typeface="Calibri" pitchFamily="34" charset="-120"/>
                <a:hlinkClick r:id="rId3"/>
              </a:rPr>
              <a:t>https://github.com/kamneevsingh410/VIT_DEBUG907</a:t>
            </a:r>
            <a:endParaRPr lang="en-US" sz="1600" b="1" dirty="0">
              <a:solidFill>
                <a:srgbClr val="C0392B"/>
              </a:solidFill>
              <a:latin typeface="Calibri" pitchFamily="34" charset="0"/>
              <a:ea typeface="Calibri" pitchFamily="34" charset="-122"/>
              <a:cs typeface="Calibri" pitchFamily="34" charset="-120"/>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4"/>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r>
              <a:rPr sz="3200" b="1" dirty="0">
                <a:solidFill>
                  <a:srgbClr val="704EA6"/>
                </a:solidFill>
                <a:latin typeface="+mn-lt"/>
              </a:rPr>
              <a:t>Theme</a:t>
            </a:r>
          </a:p>
        </p:txBody>
      </p:sp>
      <p:sp>
        <p:nvSpPr>
          <p:cNvPr id="3" name="TextBox 2"/>
          <p:cNvSpPr txBox="1"/>
          <p:nvPr/>
        </p:nvSpPr>
        <p:spPr>
          <a:xfrm>
            <a:off x="841248" y="1280160"/>
            <a:ext cx="5760720" cy="3767698"/>
          </a:xfrm>
          <a:prstGeom prst="rect">
            <a:avLst/>
          </a:prstGeom>
          <a:noFill/>
        </p:spPr>
        <p:txBody>
          <a:bodyPr wrap="square" lIns="0" tIns="0" rIns="0" bIns="0" anchor="t">
            <a:spAutoFit/>
          </a:bodyPr>
          <a:lstStyle/>
          <a:p>
            <a:pPr marL="0" indent="0">
              <a:spcBef>
                <a:spcPts val="0"/>
              </a:spcBef>
              <a:spcAft>
                <a:spcPts val="1000"/>
              </a:spcAft>
              <a:buNone/>
            </a:pPr>
            <a:r>
              <a:rPr sz="2000" b="1" dirty="0">
                <a:solidFill>
                  <a:srgbClr val="14142B"/>
                </a:solidFill>
                <a:latin typeface="Calibri"/>
              </a:rPr>
              <a:t>Theme 01: Agentic Code Intelligence</a:t>
            </a:r>
          </a:p>
          <a:p>
            <a:pPr marL="0" indent="0">
              <a:spcBef>
                <a:spcPts val="0"/>
              </a:spcBef>
              <a:spcAft>
                <a:spcPts val="300"/>
              </a:spcAft>
              <a:buNone/>
            </a:pPr>
            <a:r>
              <a:rPr sz="1700" b="1" dirty="0">
                <a:solidFill>
                  <a:srgbClr val="14142B"/>
                </a:solidFill>
                <a:latin typeface="Calibri"/>
              </a:rPr>
              <a:t>The problem, in our words</a:t>
            </a:r>
          </a:p>
          <a:p>
            <a:pPr marL="0" indent="0">
              <a:spcBef>
                <a:spcPts val="0"/>
              </a:spcBef>
              <a:spcAft>
                <a:spcPts val="700"/>
              </a:spcAft>
              <a:buNone/>
            </a:pPr>
            <a:r>
              <a:rPr sz="1600" b="0" dirty="0">
                <a:solidFill>
                  <a:srgbClr val="3D3D57"/>
                </a:solidFill>
                <a:latin typeface="Calibri"/>
              </a:rPr>
              <a:t>A coding agent has to find the right code before it can fix or extend anything, and that step gets slower as the codebase grows. Theme 01 reduces it to one task: take a question in plain English and rank thousands of code snippets by how well they answer it.</a:t>
            </a:r>
          </a:p>
          <a:p>
            <a:pPr marL="0" indent="0">
              <a:spcBef>
                <a:spcPts val="0"/>
              </a:spcBef>
              <a:spcAft>
                <a:spcPts val="1400"/>
              </a:spcAft>
              <a:buNone/>
            </a:pPr>
            <a:r>
              <a:rPr sz="1600" b="0" dirty="0">
                <a:solidFill>
                  <a:srgbClr val="3D3D57"/>
                </a:solidFill>
                <a:latin typeface="Calibri"/>
              </a:rPr>
              <a:t>Generating an answer is out of scope. We are building a ranker, and it has to run on a CPU, because retrieval is the fast step that sits in front of any LLM.</a:t>
            </a:r>
          </a:p>
          <a:p>
            <a:pPr marL="0" indent="0">
              <a:spcBef>
                <a:spcPts val="0"/>
              </a:spcBef>
              <a:spcAft>
                <a:spcPts val="300"/>
              </a:spcAft>
              <a:buNone/>
            </a:pPr>
            <a:r>
              <a:rPr sz="1700" b="1" dirty="0">
                <a:solidFill>
                  <a:srgbClr val="14142B"/>
                </a:solidFill>
                <a:latin typeface="Calibri"/>
              </a:rPr>
              <a:t>How it is scored</a:t>
            </a:r>
          </a:p>
          <a:p>
            <a:pPr marL="0" indent="0">
              <a:spcBef>
                <a:spcPts val="0"/>
              </a:spcBef>
              <a:spcAft>
                <a:spcPts val="700"/>
              </a:spcAft>
              <a:buNone/>
            </a:pPr>
            <a:r>
              <a:rPr sz="1600" b="0" dirty="0" err="1">
                <a:solidFill>
                  <a:srgbClr val="3D3D57"/>
                </a:solidFill>
                <a:latin typeface="Calibri"/>
              </a:rPr>
              <a:t>CoIR</a:t>
            </a:r>
            <a:r>
              <a:rPr sz="1600" b="0" dirty="0">
                <a:solidFill>
                  <a:srgbClr val="3D3D57"/>
                </a:solidFill>
                <a:latin typeface="Calibri"/>
              </a:rPr>
              <a:t> </a:t>
            </a:r>
            <a:r>
              <a:rPr sz="1600" b="0" dirty="0" err="1">
                <a:solidFill>
                  <a:srgbClr val="3D3D57"/>
                </a:solidFill>
                <a:latin typeface="Calibri"/>
              </a:rPr>
              <a:t>AppsRetrieval</a:t>
            </a:r>
            <a:r>
              <a:rPr sz="1600" b="0" dirty="0">
                <a:solidFill>
                  <a:srgbClr val="3D3D57"/>
                </a:solidFill>
                <a:latin typeface="Calibri"/>
              </a:rPr>
              <a:t> through MTEB: 3,765 problem statements, 8,765 Python solutions, exactly one correct solution per question. Metrics: NDCG@10 and MRR.</a:t>
            </a:r>
          </a:p>
        </p:txBody>
      </p:sp>
      <p:sp>
        <p:nvSpPr>
          <p:cNvPr id="4" name="TextBox 3"/>
          <p:cNvSpPr txBox="1"/>
          <p:nvPr/>
        </p:nvSpPr>
        <p:spPr>
          <a:xfrm>
            <a:off x="6766560" y="1280160"/>
            <a:ext cx="4572000" cy="3267561"/>
          </a:xfrm>
          <a:prstGeom prst="rect">
            <a:avLst/>
          </a:prstGeom>
          <a:noFill/>
        </p:spPr>
        <p:txBody>
          <a:bodyPr wrap="square" lIns="0" tIns="0" rIns="0" bIns="0" anchor="t">
            <a:spAutoFit/>
          </a:bodyPr>
          <a:lstStyle/>
          <a:p>
            <a:pPr marL="0" indent="0">
              <a:spcBef>
                <a:spcPts val="0"/>
              </a:spcBef>
              <a:spcAft>
                <a:spcPts val="1000"/>
              </a:spcAft>
              <a:buNone/>
            </a:pPr>
            <a:r>
              <a:rPr sz="1600" b="1" dirty="0">
                <a:solidFill>
                  <a:srgbClr val="14142B"/>
                </a:solidFill>
                <a:latin typeface="Calibri"/>
              </a:rPr>
              <a:t>Goals, in priority order</a:t>
            </a:r>
          </a:p>
          <a:p>
            <a:pPr marL="0" indent="0">
              <a:spcBef>
                <a:spcPts val="0"/>
              </a:spcBef>
              <a:spcAft>
                <a:spcPts val="300"/>
              </a:spcAft>
              <a:buNone/>
            </a:pPr>
            <a:r>
              <a:rPr sz="1400" b="1" dirty="0">
                <a:solidFill>
                  <a:srgbClr val="14142B"/>
                </a:solidFill>
                <a:latin typeface="Calibri"/>
              </a:rPr>
              <a:t>P0 — Retrieval accuracy</a:t>
            </a:r>
          </a:p>
          <a:p>
            <a:pPr marL="0" indent="0">
              <a:spcBef>
                <a:spcPts val="0"/>
              </a:spcBef>
              <a:spcAft>
                <a:spcPts val="1000"/>
              </a:spcAft>
              <a:buNone/>
            </a:pPr>
            <a:r>
              <a:rPr sz="1400" b="0" dirty="0">
                <a:solidFill>
                  <a:srgbClr val="3D3D57"/>
                </a:solidFill>
                <a:latin typeface="Calibri"/>
              </a:rPr>
              <a:t>Retrieve the relevant code snippets in response to a plain-English query.</a:t>
            </a:r>
          </a:p>
          <a:p>
            <a:pPr marL="0" indent="0">
              <a:spcBef>
                <a:spcPts val="0"/>
              </a:spcBef>
              <a:spcAft>
                <a:spcPts val="300"/>
              </a:spcAft>
              <a:buNone/>
            </a:pPr>
            <a:r>
              <a:rPr sz="1400" b="1" dirty="0">
                <a:solidFill>
                  <a:srgbClr val="14142B"/>
                </a:solidFill>
                <a:latin typeface="Calibri"/>
              </a:rPr>
              <a:t>P1 — Retrieval across versions</a:t>
            </a:r>
          </a:p>
          <a:p>
            <a:pPr marL="0" indent="0">
              <a:spcBef>
                <a:spcPts val="0"/>
              </a:spcBef>
              <a:spcAft>
                <a:spcPts val="1000"/>
              </a:spcAft>
              <a:buNone/>
            </a:pPr>
            <a:r>
              <a:rPr sz="1400" b="0" dirty="0">
                <a:solidFill>
                  <a:srgbClr val="3D3D57"/>
                </a:solidFill>
                <a:latin typeface="Calibri"/>
              </a:rPr>
              <a:t>Rebuild indexes fast enough that a changing codebase is always searchable.</a:t>
            </a:r>
          </a:p>
          <a:p>
            <a:pPr marL="0" indent="0">
              <a:spcBef>
                <a:spcPts val="0"/>
              </a:spcBef>
              <a:spcAft>
                <a:spcPts val="300"/>
              </a:spcAft>
              <a:buNone/>
            </a:pPr>
            <a:r>
              <a:rPr sz="1400" b="1" dirty="0">
                <a:solidFill>
                  <a:srgbClr val="14142B"/>
                </a:solidFill>
                <a:latin typeface="Calibri"/>
              </a:rPr>
              <a:t>Bonus — Evolutionary retrieval</a:t>
            </a:r>
          </a:p>
          <a:p>
            <a:pPr marL="0" indent="0">
              <a:spcBef>
                <a:spcPts val="0"/>
              </a:spcBef>
              <a:spcAft>
                <a:spcPts val="1000"/>
              </a:spcAft>
              <a:buNone/>
            </a:pPr>
            <a:r>
              <a:rPr sz="1400" b="0" dirty="0">
                <a:solidFill>
                  <a:srgbClr val="3D3D57"/>
                </a:solidFill>
                <a:latin typeface="Calibri"/>
              </a:rPr>
              <a:t>Search all versions at once, where near-identical snippets are hard to rank.</a:t>
            </a:r>
          </a:p>
          <a:p>
            <a:pPr marL="0" indent="0">
              <a:spcBef>
                <a:spcPts val="0"/>
              </a:spcBef>
              <a:spcAft>
                <a:spcPts val="300"/>
              </a:spcAft>
              <a:buNone/>
            </a:pPr>
            <a:r>
              <a:rPr sz="1400" b="1" dirty="0">
                <a:solidFill>
                  <a:srgbClr val="14142B"/>
                </a:solidFill>
                <a:latin typeface="Calibri"/>
              </a:rPr>
              <a:t>Constraint</a:t>
            </a:r>
          </a:p>
          <a:p>
            <a:pPr marL="0" indent="0">
              <a:spcBef>
                <a:spcPts val="0"/>
              </a:spcBef>
              <a:spcAft>
                <a:spcPts val="0"/>
              </a:spcAft>
              <a:buNone/>
            </a:pPr>
            <a:r>
              <a:rPr sz="1400" b="0" dirty="0">
                <a:solidFill>
                  <a:srgbClr val="3D3D57"/>
                </a:solidFill>
                <a:latin typeface="Calibri"/>
              </a:rPr>
              <a:t>Must run on CPU with minimal GPU use.</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r>
              <a:rPr sz="3200" b="1" dirty="0">
                <a:solidFill>
                  <a:srgbClr val="704EA6"/>
                </a:solidFill>
                <a:latin typeface="+mn-lt"/>
              </a:rPr>
              <a:t>Existing Solutions &amp; Gaps</a:t>
            </a:r>
          </a:p>
        </p:txBody>
      </p:sp>
      <p:sp>
        <p:nvSpPr>
          <p:cNvPr id="4" name="TextBox 3"/>
          <p:cNvSpPr txBox="1"/>
          <p:nvPr/>
        </p:nvSpPr>
        <p:spPr>
          <a:xfrm>
            <a:off x="841248" y="1326743"/>
            <a:ext cx="9890012" cy="4793620"/>
          </a:xfrm>
          <a:prstGeom prst="rect">
            <a:avLst/>
          </a:prstGeom>
          <a:noFill/>
        </p:spPr>
        <p:txBody>
          <a:bodyPr wrap="square" lIns="0" tIns="0" rIns="0" bIns="0" anchor="t">
            <a:spAutoFit/>
          </a:bodyPr>
          <a:lstStyle/>
          <a:p>
            <a:pPr marL="0" indent="0">
              <a:spcBef>
                <a:spcPts val="0"/>
              </a:spcBef>
              <a:spcAft>
                <a:spcPts val="300"/>
              </a:spcAft>
              <a:buNone/>
            </a:pPr>
            <a:r>
              <a:rPr sz="1600" b="1" dirty="0">
                <a:solidFill>
                  <a:srgbClr val="14142B"/>
                </a:solidFill>
                <a:latin typeface="Calibri"/>
              </a:rPr>
              <a:t>Keyword search (BM25)</a:t>
            </a:r>
          </a:p>
          <a:p>
            <a:pPr marL="0" indent="0">
              <a:spcBef>
                <a:spcPts val="0"/>
              </a:spcBef>
              <a:spcAft>
                <a:spcPts val="1200"/>
              </a:spcAft>
              <a:buNone/>
            </a:pPr>
            <a:r>
              <a:rPr sz="1600" b="0" dirty="0">
                <a:solidFill>
                  <a:srgbClr val="3D3D57"/>
                </a:solidFill>
                <a:latin typeface="Calibri"/>
              </a:rPr>
              <a:t>Matches words in the question against code. Scores 0.0053 NDCG@10 alone. Fused with a dense ranker it lowered the score by 0.027 to 0.043.</a:t>
            </a:r>
          </a:p>
          <a:p>
            <a:pPr marL="0" indent="0">
              <a:spcBef>
                <a:spcPts val="0"/>
              </a:spcBef>
              <a:spcAft>
                <a:spcPts val="300"/>
              </a:spcAft>
              <a:buNone/>
            </a:pPr>
            <a:r>
              <a:rPr sz="1600" b="1" dirty="0">
                <a:solidFill>
                  <a:srgbClr val="14142B"/>
                </a:solidFill>
                <a:latin typeface="Calibri"/>
              </a:rPr>
              <a:t>Stock model via MTEB registry</a:t>
            </a:r>
          </a:p>
          <a:p>
            <a:pPr marL="0" indent="0">
              <a:spcBef>
                <a:spcPts val="0"/>
              </a:spcBef>
              <a:spcAft>
                <a:spcPts val="1200"/>
              </a:spcAft>
              <a:buNone/>
            </a:pPr>
            <a:r>
              <a:rPr sz="1600" b="0" dirty="0" err="1">
                <a:solidFill>
                  <a:srgbClr val="3D3D57"/>
                </a:solidFill>
                <a:latin typeface="Calibri"/>
              </a:rPr>
              <a:t>gte</a:t>
            </a:r>
            <a:r>
              <a:rPr sz="1600" b="0" dirty="0">
                <a:solidFill>
                  <a:srgbClr val="3D3D57"/>
                </a:solidFill>
                <a:latin typeface="Calibri"/>
              </a:rPr>
              <a:t>-</a:t>
            </a:r>
            <a:r>
              <a:rPr sz="1600" b="0" dirty="0" err="1">
                <a:solidFill>
                  <a:srgbClr val="3D3D57"/>
                </a:solidFill>
                <a:latin typeface="Calibri"/>
              </a:rPr>
              <a:t>modernbert</a:t>
            </a:r>
            <a:r>
              <a:rPr sz="1600" b="0" dirty="0">
                <a:solidFill>
                  <a:srgbClr val="3D3D57"/>
                </a:solidFill>
                <a:latin typeface="Calibri"/>
              </a:rPr>
              <a:t>-base as downloaded. Scores 0.31908 — the registry pins an old revision that silently uses the wrong pooling.</a:t>
            </a:r>
          </a:p>
          <a:p>
            <a:pPr marL="0" indent="0">
              <a:spcBef>
                <a:spcPts val="0"/>
              </a:spcBef>
              <a:spcAft>
                <a:spcPts val="300"/>
              </a:spcAft>
              <a:buNone/>
            </a:pPr>
            <a:r>
              <a:rPr sz="1600" b="1" dirty="0">
                <a:solidFill>
                  <a:srgbClr val="14142B"/>
                </a:solidFill>
                <a:latin typeface="Calibri"/>
              </a:rPr>
              <a:t>Same model, loaded correctly</a:t>
            </a:r>
          </a:p>
          <a:p>
            <a:pPr marL="0" indent="0">
              <a:spcBef>
                <a:spcPts val="0"/>
              </a:spcBef>
              <a:spcAft>
                <a:spcPts val="0"/>
              </a:spcAft>
              <a:buNone/>
            </a:pPr>
            <a:r>
              <a:rPr sz="1600" b="0" dirty="0">
                <a:solidFill>
                  <a:srgbClr val="3D3D57"/>
                </a:solidFill>
                <a:latin typeface="Calibri"/>
              </a:rPr>
              <a:t>Pinned revision, CLS pooling, 8,192 tokens. Scores 0.57673, level with the model card. Hub snippets still crowd the top: 19.3% of wrong #1 answers.</a:t>
            </a:r>
            <a:endParaRPr lang="en-US" sz="1600" b="0" dirty="0">
              <a:solidFill>
                <a:srgbClr val="3D3D57"/>
              </a:solidFill>
              <a:latin typeface="Calibri"/>
            </a:endParaRPr>
          </a:p>
          <a:p>
            <a:pPr marL="0" indent="0">
              <a:spcBef>
                <a:spcPts val="0"/>
              </a:spcBef>
              <a:spcAft>
                <a:spcPts val="0"/>
              </a:spcAft>
              <a:buNone/>
            </a:pPr>
            <a:endParaRPr lang="en-IN" sz="1600" dirty="0">
              <a:solidFill>
                <a:srgbClr val="3D3D57"/>
              </a:solidFill>
              <a:latin typeface="Calibri"/>
            </a:endParaRPr>
          </a:p>
          <a:p>
            <a:pPr>
              <a:spcAft>
                <a:spcPts val="300"/>
              </a:spcAft>
            </a:pPr>
            <a:r>
              <a:rPr lang="en-US" sz="1600" b="1" dirty="0">
                <a:solidFill>
                  <a:srgbClr val="14142B"/>
                </a:solidFill>
              </a:rPr>
              <a:t>Cross-attention </a:t>
            </a:r>
            <a:r>
              <a:rPr lang="en-US" sz="1600" b="1" dirty="0" err="1">
                <a:solidFill>
                  <a:srgbClr val="14142B"/>
                </a:solidFill>
              </a:rPr>
              <a:t>reranker</a:t>
            </a:r>
            <a:r>
              <a:rPr lang="en-US" sz="1600" b="1" dirty="0">
                <a:solidFill>
                  <a:srgbClr val="14142B"/>
                </a:solidFill>
              </a:rPr>
              <a:t> or LLM</a:t>
            </a:r>
          </a:p>
          <a:p>
            <a:pPr>
              <a:spcAft>
                <a:spcPts val="1200"/>
              </a:spcAft>
            </a:pPr>
            <a:r>
              <a:rPr lang="en-US" sz="1600" dirty="0">
                <a:solidFill>
                  <a:srgbClr val="3D3D57"/>
                </a:solidFill>
              </a:rPr>
              <a:t>A second pass over the top results. An LLM cannot hold thousands of long snippets. The </a:t>
            </a:r>
            <a:r>
              <a:rPr lang="en-US" sz="1600" dirty="0" err="1">
                <a:solidFill>
                  <a:srgbClr val="3D3D57"/>
                </a:solidFill>
              </a:rPr>
              <a:t>reranker</a:t>
            </a:r>
            <a:r>
              <a:rPr lang="en-US" sz="1600" dirty="0">
                <a:solidFill>
                  <a:srgbClr val="3D3D57"/>
                </a:solidFill>
              </a:rPr>
              <a:t> cost −0.012 NDCG@10.</a:t>
            </a:r>
          </a:p>
          <a:p>
            <a:pPr>
              <a:spcAft>
                <a:spcPts val="300"/>
              </a:spcAft>
            </a:pPr>
            <a:r>
              <a:rPr lang="en-US" sz="1600" b="1" dirty="0">
                <a:solidFill>
                  <a:srgbClr val="14142B"/>
                </a:solidFill>
              </a:rPr>
              <a:t>Re-embedding on every version</a:t>
            </a:r>
          </a:p>
          <a:p>
            <a:r>
              <a:rPr lang="en-US" sz="1600" dirty="0">
                <a:solidFill>
                  <a:srgbClr val="3D3D57"/>
                </a:solidFill>
              </a:rPr>
              <a:t>Rebuilds the whole index per commit — hopeless on a CPU. And the same function appears once per version: the top 10 held only 4 distinct functions without collapse.</a:t>
            </a:r>
          </a:p>
          <a:p>
            <a:pPr marL="0" indent="0">
              <a:spcBef>
                <a:spcPts val="0"/>
              </a:spcBef>
              <a:spcAft>
                <a:spcPts val="0"/>
              </a:spcAft>
              <a:buNone/>
            </a:pPr>
            <a:endParaRPr sz="1300" b="0" dirty="0">
              <a:solidFill>
                <a:srgbClr val="3D3D57"/>
              </a:solidFill>
              <a:latin typeface="Calibri"/>
            </a:endParaRP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r>
              <a:rPr sz="3200" b="1">
                <a:solidFill>
                  <a:srgbClr val="704EA6"/>
                </a:solidFill>
                <a:latin typeface="+mn-lt"/>
              </a:rPr>
              <a:t>Our Solutions &amp; Architecture Diagram</a:t>
            </a:r>
          </a:p>
        </p:txBody>
      </p:sp>
      <p:sp>
        <p:nvSpPr>
          <p:cNvPr id="3" name="TextBox 2"/>
          <p:cNvSpPr txBox="1"/>
          <p:nvPr/>
        </p:nvSpPr>
        <p:spPr>
          <a:xfrm>
            <a:off x="841248" y="1444752"/>
            <a:ext cx="1143000" cy="731520"/>
          </a:xfrm>
          <a:prstGeom prst="rect">
            <a:avLst/>
          </a:prstGeom>
          <a:noFill/>
        </p:spPr>
        <p:txBody>
          <a:bodyPr wrap="square" lIns="0" tIns="0" rIns="0" bIns="0" anchor="t">
            <a:spAutoFit/>
          </a:bodyPr>
          <a:lstStyle/>
          <a:p>
            <a:pPr marL="0" indent="0">
              <a:spcBef>
                <a:spcPts val="0"/>
              </a:spcBef>
              <a:spcAft>
                <a:spcPts val="200"/>
              </a:spcAft>
              <a:buNone/>
            </a:pPr>
            <a:r>
              <a:rPr sz="1500" b="1">
                <a:solidFill>
                  <a:srgbClr val="14142B"/>
                </a:solidFill>
                <a:latin typeface="Calibri"/>
              </a:rPr>
              <a:t>Indexing</a:t>
            </a:r>
          </a:p>
          <a:p>
            <a:pPr marL="0" indent="0">
              <a:spcBef>
                <a:spcPts val="0"/>
              </a:spcBef>
              <a:spcAft>
                <a:spcPts val="0"/>
              </a:spcAft>
              <a:buNone/>
            </a:pPr>
            <a:r>
              <a:rPr sz="1300" b="0">
                <a:solidFill>
                  <a:srgbClr val="6B6B85"/>
                </a:solidFill>
                <a:latin typeface="Calibri"/>
              </a:rPr>
              <a:t>repo or git commit</a:t>
            </a:r>
          </a:p>
        </p:txBody>
      </p:sp>
      <p:sp>
        <p:nvSpPr>
          <p:cNvPr id="4" name="Rounded Rectangle 3"/>
          <p:cNvSpPr/>
          <p:nvPr/>
        </p:nvSpPr>
        <p:spPr>
          <a:xfrm>
            <a:off x="2057400" y="137160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Repository or git commit</a:t>
            </a:r>
          </a:p>
        </p:txBody>
      </p:sp>
      <p:cxnSp>
        <p:nvCxnSpPr>
          <p:cNvPr id="5" name="Connector 4"/>
          <p:cNvCxnSpPr/>
          <p:nvPr/>
        </p:nvCxnSpPr>
        <p:spPr>
          <a:xfrm>
            <a:off x="3657599" y="1783080"/>
            <a:ext cx="292608"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977639" y="137160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Split into functions, text kept as is</a:t>
            </a:r>
          </a:p>
        </p:txBody>
      </p:sp>
      <p:cxnSp>
        <p:nvCxnSpPr>
          <p:cNvPr id="7" name="Connector 6"/>
          <p:cNvCxnSpPr/>
          <p:nvPr/>
        </p:nvCxnSpPr>
        <p:spPr>
          <a:xfrm>
            <a:off x="5577840" y="1783080"/>
            <a:ext cx="292607"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897880" y="1371600"/>
            <a:ext cx="1572768" cy="822960"/>
          </a:xfrm>
          <a:prstGeom prst="roundRect">
            <a:avLst>
              <a:gd name="adj" fmla="val 12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gte-modernbert-base encoder (CPU)</a:t>
            </a:r>
          </a:p>
        </p:txBody>
      </p:sp>
      <p:cxnSp>
        <p:nvCxnSpPr>
          <p:cNvPr id="9" name="Connector 8"/>
          <p:cNvCxnSpPr/>
          <p:nvPr/>
        </p:nvCxnSpPr>
        <p:spPr>
          <a:xfrm>
            <a:off x="7498079" y="1783080"/>
            <a:ext cx="292609"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818120" y="137160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Vector cache, keyed by exact text</a:t>
            </a:r>
          </a:p>
        </p:txBody>
      </p:sp>
      <p:cxnSp>
        <p:nvCxnSpPr>
          <p:cNvPr id="11" name="Connector 10"/>
          <p:cNvCxnSpPr/>
          <p:nvPr/>
        </p:nvCxnSpPr>
        <p:spPr>
          <a:xfrm>
            <a:off x="9418320" y="1783080"/>
            <a:ext cx="292608"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738360" y="137160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SQLite index, versions side by side</a:t>
            </a:r>
          </a:p>
        </p:txBody>
      </p:sp>
      <p:sp>
        <p:nvSpPr>
          <p:cNvPr id="13" name="TextBox 12"/>
          <p:cNvSpPr txBox="1"/>
          <p:nvPr/>
        </p:nvSpPr>
        <p:spPr>
          <a:xfrm>
            <a:off x="2057400" y="2286000"/>
            <a:ext cx="9144000" cy="274320"/>
          </a:xfrm>
          <a:prstGeom prst="rect">
            <a:avLst/>
          </a:prstGeom>
          <a:noFill/>
        </p:spPr>
        <p:txBody>
          <a:bodyPr wrap="square" lIns="0" tIns="0" rIns="0" bIns="0" anchor="t">
            <a:spAutoFit/>
          </a:bodyPr>
          <a:lstStyle/>
          <a:p>
            <a:pPr marL="0" indent="0">
              <a:spcBef>
                <a:spcPts val="0"/>
              </a:spcBef>
              <a:spcAft>
                <a:spcPts val="0"/>
              </a:spcAft>
              <a:buNone/>
            </a:pPr>
            <a:r>
              <a:rPr sz="1300" b="0">
                <a:solidFill>
                  <a:srgbClr val="6B6B85"/>
                </a:solidFill>
                <a:latin typeface="Calibri"/>
              </a:rPr>
              <a:t>An unchanged function is never encoded again, in any version.</a:t>
            </a:r>
          </a:p>
        </p:txBody>
      </p:sp>
      <p:sp>
        <p:nvSpPr>
          <p:cNvPr id="14" name="TextBox 13"/>
          <p:cNvSpPr txBox="1"/>
          <p:nvPr/>
        </p:nvSpPr>
        <p:spPr>
          <a:xfrm>
            <a:off x="841248" y="2953512"/>
            <a:ext cx="1143000" cy="731520"/>
          </a:xfrm>
          <a:prstGeom prst="rect">
            <a:avLst/>
          </a:prstGeom>
          <a:noFill/>
        </p:spPr>
        <p:txBody>
          <a:bodyPr wrap="square" lIns="0" tIns="0" rIns="0" bIns="0" anchor="t">
            <a:spAutoFit/>
          </a:bodyPr>
          <a:lstStyle/>
          <a:p>
            <a:pPr marL="0" indent="0">
              <a:spcBef>
                <a:spcPts val="0"/>
              </a:spcBef>
              <a:spcAft>
                <a:spcPts val="200"/>
              </a:spcAft>
              <a:buNone/>
            </a:pPr>
            <a:r>
              <a:rPr sz="1500" b="1">
                <a:solidFill>
                  <a:srgbClr val="14142B"/>
                </a:solidFill>
                <a:latin typeface="Calibri"/>
              </a:rPr>
              <a:t>Asking</a:t>
            </a:r>
          </a:p>
          <a:p>
            <a:pPr marL="0" indent="0">
              <a:spcBef>
                <a:spcPts val="0"/>
              </a:spcBef>
              <a:spcAft>
                <a:spcPts val="0"/>
              </a:spcAft>
              <a:buNone/>
            </a:pPr>
            <a:r>
              <a:rPr sz="1300" b="0">
                <a:solidFill>
                  <a:srgbClr val="6B6B85"/>
                </a:solidFill>
                <a:latin typeface="Calibri"/>
              </a:rPr>
              <a:t>plain English</a:t>
            </a:r>
          </a:p>
        </p:txBody>
      </p:sp>
      <p:sp>
        <p:nvSpPr>
          <p:cNvPr id="15" name="Rounded Rectangle 14"/>
          <p:cNvSpPr/>
          <p:nvPr/>
        </p:nvSpPr>
        <p:spPr>
          <a:xfrm>
            <a:off x="2057400" y="288036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Question in plain English</a:t>
            </a:r>
          </a:p>
        </p:txBody>
      </p:sp>
      <p:cxnSp>
        <p:nvCxnSpPr>
          <p:cNvPr id="16" name="Connector 15"/>
          <p:cNvCxnSpPr/>
          <p:nvPr/>
        </p:nvCxnSpPr>
        <p:spPr>
          <a:xfrm>
            <a:off x="3657599" y="3291840"/>
            <a:ext cx="292608"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977639" y="288036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Router: exact lookups or search</a:t>
            </a:r>
          </a:p>
        </p:txBody>
      </p:sp>
      <p:cxnSp>
        <p:nvCxnSpPr>
          <p:cNvPr id="18" name="Connector 17"/>
          <p:cNvCxnSpPr/>
          <p:nvPr/>
        </p:nvCxnSpPr>
        <p:spPr>
          <a:xfrm>
            <a:off x="5577840" y="3291840"/>
            <a:ext cx="292607"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897880" y="2880360"/>
            <a:ext cx="1572768" cy="822960"/>
          </a:xfrm>
          <a:prstGeom prst="roundRect">
            <a:avLst>
              <a:gd name="adj" fmla="val 12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Same encoder, cosine similarity</a:t>
            </a:r>
          </a:p>
        </p:txBody>
      </p:sp>
      <p:cxnSp>
        <p:nvCxnSpPr>
          <p:cNvPr id="20" name="Connector 19"/>
          <p:cNvCxnSpPr/>
          <p:nvPr/>
        </p:nvCxnSpPr>
        <p:spPr>
          <a:xfrm>
            <a:off x="7498079" y="3291840"/>
            <a:ext cx="292609"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818120" y="288036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Hubness correction: cos − 0.75·hub(d)</a:t>
            </a:r>
          </a:p>
        </p:txBody>
      </p:sp>
      <p:cxnSp>
        <p:nvCxnSpPr>
          <p:cNvPr id="22" name="Connector 21"/>
          <p:cNvCxnSpPr/>
          <p:nvPr/>
        </p:nvCxnSpPr>
        <p:spPr>
          <a:xfrm>
            <a:off x="9418320" y="3291840"/>
            <a:ext cx="292608"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738360" y="288036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Version collapse, ranked path:lines</a:t>
            </a:r>
          </a:p>
        </p:txBody>
      </p:sp>
      <p:sp>
        <p:nvSpPr>
          <p:cNvPr id="24" name="TextBox 23"/>
          <p:cNvSpPr txBox="1"/>
          <p:nvPr/>
        </p:nvSpPr>
        <p:spPr>
          <a:xfrm>
            <a:off x="2057400" y="3794760"/>
            <a:ext cx="9144000" cy="274320"/>
          </a:xfrm>
          <a:prstGeom prst="rect">
            <a:avLst/>
          </a:prstGeom>
          <a:noFill/>
        </p:spPr>
        <p:txBody>
          <a:bodyPr wrap="square" lIns="0" tIns="0" rIns="0" bIns="0" anchor="t">
            <a:spAutoFit/>
          </a:bodyPr>
          <a:lstStyle/>
          <a:p>
            <a:pPr marL="0" indent="0">
              <a:spcBef>
                <a:spcPts val="0"/>
              </a:spcBef>
              <a:spcAft>
                <a:spcPts val="0"/>
              </a:spcAft>
              <a:buNone/>
            </a:pPr>
            <a:r>
              <a:rPr sz="1300" b="0">
                <a:solidFill>
                  <a:srgbClr val="6B6B85"/>
                </a:solidFill>
                <a:latin typeface="Calibri"/>
              </a:rPr>
              <a:t>The router only takes short structural questions: 0 of 8,765 benchmark questions.</a:t>
            </a:r>
          </a:p>
        </p:txBody>
      </p:sp>
      <p:sp>
        <p:nvSpPr>
          <p:cNvPr id="25" name="TextBox 24"/>
          <p:cNvSpPr txBox="1"/>
          <p:nvPr/>
        </p:nvSpPr>
        <p:spPr>
          <a:xfrm>
            <a:off x="841248" y="4462272"/>
            <a:ext cx="1143000" cy="731520"/>
          </a:xfrm>
          <a:prstGeom prst="rect">
            <a:avLst/>
          </a:prstGeom>
          <a:noFill/>
        </p:spPr>
        <p:txBody>
          <a:bodyPr wrap="square" lIns="0" tIns="0" rIns="0" bIns="0" anchor="t">
            <a:spAutoFit/>
          </a:bodyPr>
          <a:lstStyle/>
          <a:p>
            <a:pPr marL="0" indent="0">
              <a:spcBef>
                <a:spcPts val="0"/>
              </a:spcBef>
              <a:spcAft>
                <a:spcPts val="200"/>
              </a:spcAft>
              <a:buNone/>
            </a:pPr>
            <a:r>
              <a:rPr sz="1500" b="1">
                <a:solidFill>
                  <a:srgbClr val="14142B"/>
                </a:solidFill>
                <a:latin typeface="Calibri"/>
              </a:rPr>
              <a:t>Screening</a:t>
            </a:r>
          </a:p>
          <a:p>
            <a:pPr marL="0" indent="0">
              <a:spcBef>
                <a:spcPts val="0"/>
              </a:spcBef>
              <a:spcAft>
                <a:spcPts val="0"/>
              </a:spcAft>
              <a:buNone/>
            </a:pPr>
            <a:r>
              <a:rPr sz="1300" b="0">
                <a:solidFill>
                  <a:srgbClr val="6B6B85"/>
                </a:solidFill>
                <a:latin typeface="Calibri"/>
              </a:rPr>
              <a:t>MTEB run</a:t>
            </a:r>
          </a:p>
        </p:txBody>
      </p:sp>
      <p:sp>
        <p:nvSpPr>
          <p:cNvPr id="26" name="Rounded Rectangle 25"/>
          <p:cNvSpPr/>
          <p:nvPr/>
        </p:nvSpPr>
        <p:spPr>
          <a:xfrm>
            <a:off x="2057400" y="438912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MTEB, AppsRetrieval test split</a:t>
            </a:r>
          </a:p>
        </p:txBody>
      </p:sp>
      <p:cxnSp>
        <p:nvCxnSpPr>
          <p:cNvPr id="27" name="Connector 26"/>
          <p:cNvCxnSpPr/>
          <p:nvPr/>
        </p:nvCxnSpPr>
        <p:spPr>
          <a:xfrm>
            <a:off x="3657599" y="4800600"/>
            <a:ext cx="292608"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977639" y="438912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PrePostPipelineEncoder</a:t>
            </a:r>
          </a:p>
        </p:txBody>
      </p:sp>
      <p:cxnSp>
        <p:nvCxnSpPr>
          <p:cNvPr id="29" name="Connector 28"/>
          <p:cNvCxnSpPr/>
          <p:nvPr/>
        </p:nvCxnSpPr>
        <p:spPr>
          <a:xfrm>
            <a:off x="5577840" y="4800600"/>
            <a:ext cx="292607"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897880" y="4389120"/>
            <a:ext cx="1572768" cy="822960"/>
          </a:xfrm>
          <a:prstGeom prst="roundRect">
            <a:avLst>
              <a:gd name="adj" fmla="val 12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alibri"/>
              </a:rPr>
              <a:t>Same encoder, hub as one extra dimension</a:t>
            </a:r>
          </a:p>
        </p:txBody>
      </p:sp>
      <p:cxnSp>
        <p:nvCxnSpPr>
          <p:cNvPr id="31" name="Connector 30"/>
          <p:cNvCxnSpPr/>
          <p:nvPr/>
        </p:nvCxnSpPr>
        <p:spPr>
          <a:xfrm>
            <a:off x="7498079" y="4800600"/>
            <a:ext cx="292609"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818120" y="4389120"/>
            <a:ext cx="1572768" cy="822960"/>
          </a:xfrm>
          <a:prstGeom prst="roundRect">
            <a:avLst>
              <a:gd name="adj" fmla="val 12000"/>
            </a:avLst>
          </a:prstGeom>
          <a:solidFill>
            <a:srgbClr val="F3F0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4142B"/>
                </a:solidFill>
                <a:latin typeface="Calibri"/>
              </a:rPr>
              <a:t>appsretrieval_results.json</a:t>
            </a:r>
          </a:p>
        </p:txBody>
      </p:sp>
      <p:sp>
        <p:nvSpPr>
          <p:cNvPr id="33" name="TextBox 32"/>
          <p:cNvSpPr txBox="1"/>
          <p:nvPr/>
        </p:nvSpPr>
        <p:spPr>
          <a:xfrm>
            <a:off x="2057400" y="5303520"/>
            <a:ext cx="9326880" cy="548640"/>
          </a:xfrm>
          <a:prstGeom prst="rect">
            <a:avLst/>
          </a:prstGeom>
          <a:noFill/>
        </p:spPr>
        <p:txBody>
          <a:bodyPr wrap="square" lIns="0" tIns="0" rIns="0" bIns="0" anchor="t">
            <a:spAutoFit/>
          </a:bodyPr>
          <a:lstStyle/>
          <a:p>
            <a:pPr marL="0" indent="0">
              <a:spcBef>
                <a:spcPts val="0"/>
              </a:spcBef>
              <a:spcAft>
                <a:spcPts val="0"/>
              </a:spcAft>
              <a:buNone/>
            </a:pPr>
            <a:r>
              <a:rPr sz="1300" b="0">
                <a:solidFill>
                  <a:srgbClr val="3D3D57"/>
                </a:solidFill>
                <a:latin typeface="Calibri"/>
              </a:rPr>
              <a:t>One encoder embeds both questions and code. No LLM in the retrieval path. Inside MTEB the correction is exact: +1 is appended to query vectors and −0.75·hub(d) to document vectors, so MTEB’s own dot product computes the corrected score.</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822960"/>
          </a:xfrm>
        </p:spPr>
        <p:txBody>
          <a:bodyPr/>
          <a:lstStyle/>
          <a:p>
            <a:r>
              <a:rPr sz="3200" b="1">
                <a:solidFill>
                  <a:srgbClr val="704EA6"/>
                </a:solidFill>
                <a:latin typeface="+mn-lt"/>
              </a:rPr>
              <a:t>How the score went from 0.11 to 0.61</a:t>
            </a:r>
          </a:p>
        </p:txBody>
      </p:sp>
      <p:sp>
        <p:nvSpPr>
          <p:cNvPr id="4" name="TextBox 3"/>
          <p:cNvSpPr txBox="1"/>
          <p:nvPr/>
        </p:nvSpPr>
        <p:spPr>
          <a:xfrm>
            <a:off x="841248" y="1213736"/>
            <a:ext cx="9199899" cy="4701287"/>
          </a:xfrm>
          <a:prstGeom prst="rect">
            <a:avLst/>
          </a:prstGeom>
          <a:noFill/>
        </p:spPr>
        <p:txBody>
          <a:bodyPr wrap="square" lIns="0" tIns="0" rIns="0" bIns="0" anchor="t">
            <a:spAutoFit/>
          </a:bodyPr>
          <a:lstStyle/>
          <a:p>
            <a:pPr marL="0" indent="0">
              <a:spcBef>
                <a:spcPts val="0"/>
              </a:spcBef>
              <a:spcAft>
                <a:spcPts val="300"/>
              </a:spcAft>
              <a:buNone/>
            </a:pPr>
            <a:r>
              <a:rPr sz="1600" b="1" dirty="0">
                <a:solidFill>
                  <a:srgbClr val="14142B"/>
                </a:solidFill>
                <a:latin typeface="Calibri"/>
              </a:rPr>
              <a:t>jina-embeddings-v2-base-code (int8)   →   0.10982</a:t>
            </a:r>
          </a:p>
          <a:p>
            <a:pPr marL="0" indent="0">
              <a:spcBef>
                <a:spcPts val="0"/>
              </a:spcBef>
              <a:spcAft>
                <a:spcPts val="1200"/>
              </a:spcAft>
              <a:buNone/>
            </a:pPr>
            <a:r>
              <a:rPr sz="1600" b="0" dirty="0">
                <a:solidFill>
                  <a:srgbClr val="3D3D57"/>
                </a:solidFill>
                <a:latin typeface="Calibri"/>
              </a:rPr>
              <a:t>Our first artifact. The obvious code-specialist model.</a:t>
            </a:r>
          </a:p>
          <a:p>
            <a:pPr marL="0" indent="0">
              <a:spcBef>
                <a:spcPts val="0"/>
              </a:spcBef>
              <a:spcAft>
                <a:spcPts val="300"/>
              </a:spcAft>
              <a:buNone/>
            </a:pPr>
            <a:r>
              <a:rPr sz="1600" b="1" dirty="0" err="1">
                <a:solidFill>
                  <a:srgbClr val="14142B"/>
                </a:solidFill>
                <a:latin typeface="Calibri"/>
              </a:rPr>
              <a:t>gte</a:t>
            </a:r>
            <a:r>
              <a:rPr sz="1600" b="1" dirty="0">
                <a:solidFill>
                  <a:srgbClr val="14142B"/>
                </a:solidFill>
                <a:latin typeface="Calibri"/>
              </a:rPr>
              <a:t>-</a:t>
            </a:r>
            <a:r>
              <a:rPr sz="1600" b="1" dirty="0" err="1">
                <a:solidFill>
                  <a:srgbClr val="14142B"/>
                </a:solidFill>
                <a:latin typeface="Calibri"/>
              </a:rPr>
              <a:t>modernbert</a:t>
            </a:r>
            <a:r>
              <a:rPr sz="1600" b="1" dirty="0">
                <a:solidFill>
                  <a:srgbClr val="14142B"/>
                </a:solidFill>
                <a:latin typeface="Calibri"/>
              </a:rPr>
              <a:t>-base, 512 tokens   →   0.48908</a:t>
            </a:r>
          </a:p>
          <a:p>
            <a:pPr marL="0" indent="0">
              <a:spcBef>
                <a:spcPts val="0"/>
              </a:spcBef>
              <a:spcAft>
                <a:spcPts val="1200"/>
              </a:spcAft>
              <a:buNone/>
            </a:pPr>
            <a:r>
              <a:rPr sz="1600" b="0" dirty="0">
                <a:solidFill>
                  <a:srgbClr val="3D3D57"/>
                </a:solidFill>
                <a:latin typeface="Calibri"/>
              </a:rPr>
              <a:t>Model swap: the single biggest lever. On the 1,000-query sample </a:t>
            </a:r>
            <a:r>
              <a:rPr sz="1600" b="0" dirty="0" err="1">
                <a:solidFill>
                  <a:srgbClr val="3D3D57"/>
                </a:solidFill>
                <a:latin typeface="Calibri"/>
              </a:rPr>
              <a:t>gte</a:t>
            </a:r>
            <a:r>
              <a:rPr sz="1600" b="0" dirty="0">
                <a:solidFill>
                  <a:srgbClr val="3D3D57"/>
                </a:solidFill>
                <a:latin typeface="Calibri"/>
              </a:rPr>
              <a:t> scored 0.4906 vs </a:t>
            </a:r>
            <a:r>
              <a:rPr sz="1600" b="0" dirty="0" err="1">
                <a:solidFill>
                  <a:srgbClr val="3D3D57"/>
                </a:solidFill>
                <a:latin typeface="Calibri"/>
              </a:rPr>
              <a:t>jina</a:t>
            </a:r>
            <a:r>
              <a:rPr sz="1600" b="0" dirty="0">
                <a:solidFill>
                  <a:srgbClr val="3D3D57"/>
                </a:solidFill>
                <a:latin typeface="Calibri"/>
              </a:rPr>
              <a:t> 0.1434 and granite 0.1275.</a:t>
            </a:r>
          </a:p>
          <a:p>
            <a:pPr marL="0" indent="0">
              <a:spcBef>
                <a:spcPts val="0"/>
              </a:spcBef>
              <a:spcAft>
                <a:spcPts val="300"/>
              </a:spcAft>
              <a:buNone/>
            </a:pPr>
            <a:r>
              <a:rPr sz="1600" b="1" dirty="0">
                <a:solidFill>
                  <a:srgbClr val="14142B"/>
                </a:solidFill>
                <a:latin typeface="Calibri"/>
              </a:rPr>
              <a:t>Raise context to 1,024 tokens   →   0.50431</a:t>
            </a:r>
          </a:p>
          <a:p>
            <a:pPr marL="0" indent="0">
              <a:spcBef>
                <a:spcPts val="0"/>
              </a:spcBef>
              <a:spcAft>
                <a:spcPts val="0"/>
              </a:spcAft>
              <a:buNone/>
            </a:pPr>
            <a:r>
              <a:rPr sz="1600" b="0" dirty="0">
                <a:solidFill>
                  <a:srgbClr val="3D3D57"/>
                </a:solidFill>
                <a:latin typeface="Calibri"/>
              </a:rPr>
              <a:t>Questions run 1,600 characters at the median; a quarter were cut off at 512 tokens. Worth +0.019 on the sample.</a:t>
            </a:r>
            <a:endParaRPr lang="en-US" sz="1600" b="0" dirty="0">
              <a:solidFill>
                <a:srgbClr val="3D3D57"/>
              </a:solidFill>
              <a:latin typeface="Calibri"/>
            </a:endParaRPr>
          </a:p>
          <a:p>
            <a:pPr marL="0" indent="0">
              <a:spcBef>
                <a:spcPts val="0"/>
              </a:spcBef>
              <a:spcAft>
                <a:spcPts val="0"/>
              </a:spcAft>
              <a:buNone/>
            </a:pPr>
            <a:endParaRPr lang="en-IN" sz="1600" dirty="0">
              <a:solidFill>
                <a:srgbClr val="3D3D57"/>
              </a:solidFill>
              <a:latin typeface="Calibri"/>
            </a:endParaRPr>
          </a:p>
          <a:p>
            <a:pPr>
              <a:spcAft>
                <a:spcPts val="300"/>
              </a:spcAft>
            </a:pPr>
            <a:r>
              <a:rPr lang="en-US" sz="1600" b="1" dirty="0">
                <a:solidFill>
                  <a:srgbClr val="14142B"/>
                </a:solidFill>
              </a:rPr>
              <a:t>Add hubness correction   →   0.53926</a:t>
            </a:r>
          </a:p>
          <a:p>
            <a:pPr>
              <a:spcAft>
                <a:spcPts val="1200"/>
              </a:spcAft>
            </a:pPr>
            <a:r>
              <a:rPr lang="en-US" sz="1600" dirty="0">
                <a:solidFill>
                  <a:srgbClr val="3D3D57"/>
                </a:solidFill>
              </a:rPr>
              <a:t>A small penalty for snippets that sit close to every question. +0.035 on the full split.</a:t>
            </a:r>
          </a:p>
          <a:p>
            <a:pPr>
              <a:spcAft>
                <a:spcPts val="300"/>
              </a:spcAft>
            </a:pPr>
            <a:r>
              <a:rPr lang="en-US" sz="1600" b="1" dirty="0">
                <a:solidFill>
                  <a:srgbClr val="14142B"/>
                </a:solidFill>
              </a:rPr>
              <a:t>Embed raw document text   →   0.60952</a:t>
            </a:r>
          </a:p>
          <a:p>
            <a:pPr>
              <a:spcAft>
                <a:spcPts val="1200"/>
              </a:spcAft>
            </a:pPr>
            <a:r>
              <a:rPr lang="en-US" sz="1600" dirty="0">
                <a:solidFill>
                  <a:srgbClr val="3D3D57"/>
                </a:solidFill>
              </a:rPr>
              <a:t>Embedding text exactly as given beat our cleaned "code view" by +0.070. </a:t>
            </a:r>
            <a:r>
              <a:rPr lang="en-US" sz="1600" dirty="0" err="1">
                <a:solidFill>
                  <a:srgbClr val="3D3D57"/>
                </a:solidFill>
              </a:rPr>
              <a:t>CosQA</a:t>
            </a:r>
            <a:r>
              <a:rPr lang="en-US" sz="1600" dirty="0">
                <a:solidFill>
                  <a:srgbClr val="3D3D57"/>
                </a:solidFill>
              </a:rPr>
              <a:t>, never touched, agreed: 37.62 → 43.06.</a:t>
            </a:r>
          </a:p>
          <a:p>
            <a:r>
              <a:rPr lang="en-US" sz="1600" b="1" dirty="0">
                <a:solidFill>
                  <a:srgbClr val="704EA6"/>
                </a:solidFill>
              </a:rPr>
              <a:t>5.6× better than the first artifact</a:t>
            </a:r>
          </a:p>
          <a:p>
            <a:pPr marL="0" indent="0">
              <a:spcBef>
                <a:spcPts val="0"/>
              </a:spcBef>
              <a:spcAft>
                <a:spcPts val="0"/>
              </a:spcAft>
              <a:buNone/>
            </a:pPr>
            <a:endParaRPr sz="1300" b="0" dirty="0">
              <a:solidFill>
                <a:srgbClr val="3D3D57"/>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822960"/>
          </a:xfrm>
        </p:spPr>
        <p:txBody>
          <a:bodyPr/>
          <a:lstStyle/>
          <a:p>
            <a:r>
              <a:rPr sz="3200" b="1">
                <a:solidFill>
                  <a:srgbClr val="704EA6"/>
                </a:solidFill>
                <a:latin typeface="+mn-lt"/>
              </a:rPr>
              <a:t>What did not work</a:t>
            </a:r>
          </a:p>
        </p:txBody>
      </p:sp>
      <p:sp>
        <p:nvSpPr>
          <p:cNvPr id="4" name="TextBox 3"/>
          <p:cNvSpPr txBox="1"/>
          <p:nvPr/>
        </p:nvSpPr>
        <p:spPr>
          <a:xfrm>
            <a:off x="936138" y="1297647"/>
            <a:ext cx="9286163" cy="4262705"/>
          </a:xfrm>
          <a:prstGeom prst="rect">
            <a:avLst/>
          </a:prstGeom>
          <a:noFill/>
        </p:spPr>
        <p:txBody>
          <a:bodyPr wrap="square" lIns="0" tIns="0" rIns="0" bIns="0" anchor="t">
            <a:spAutoFit/>
          </a:bodyPr>
          <a:lstStyle/>
          <a:p>
            <a:pPr marL="0" indent="0">
              <a:spcBef>
                <a:spcPts val="0"/>
              </a:spcBef>
              <a:spcAft>
                <a:spcPts val="300"/>
              </a:spcAft>
              <a:buNone/>
            </a:pPr>
            <a:r>
              <a:rPr sz="1600" b="1" dirty="0">
                <a:solidFill>
                  <a:srgbClr val="14142B"/>
                </a:solidFill>
                <a:latin typeface="Calibri"/>
              </a:rPr>
              <a:t>Embed a summary instead of the code   →   −0.442</a:t>
            </a:r>
          </a:p>
          <a:p>
            <a:pPr marL="0" indent="0">
              <a:spcBef>
                <a:spcPts val="0"/>
              </a:spcBef>
              <a:spcAft>
                <a:spcPts val="1200"/>
              </a:spcAft>
              <a:buNone/>
            </a:pPr>
            <a:r>
              <a:rPr sz="1600" b="0" dirty="0">
                <a:solidFill>
                  <a:srgbClr val="3D3D57"/>
                </a:solidFill>
                <a:latin typeface="Calibri"/>
              </a:rPr>
              <a:t>We tried generating a natural-language description of each snippet and embedding that. The encoder already understands code; a prose rewrite removes the very signal it looks for.</a:t>
            </a:r>
          </a:p>
          <a:p>
            <a:pPr marL="0" indent="0">
              <a:spcBef>
                <a:spcPts val="0"/>
              </a:spcBef>
              <a:spcAft>
                <a:spcPts val="300"/>
              </a:spcAft>
              <a:buNone/>
            </a:pPr>
            <a:r>
              <a:rPr sz="1600" b="1" dirty="0">
                <a:solidFill>
                  <a:srgbClr val="14142B"/>
                </a:solidFill>
                <a:latin typeface="Calibri"/>
              </a:rPr>
              <a:t>Strip input/output sections from queries   →   −0.260</a:t>
            </a:r>
          </a:p>
          <a:p>
            <a:pPr marL="0" indent="0">
              <a:spcBef>
                <a:spcPts val="0"/>
              </a:spcBef>
              <a:spcAft>
                <a:spcPts val="0"/>
              </a:spcAft>
              <a:buNone/>
            </a:pPr>
            <a:r>
              <a:rPr sz="1600" b="0" dirty="0">
                <a:solidFill>
                  <a:srgbClr val="3D3D57"/>
                </a:solidFill>
                <a:latin typeface="Calibri"/>
              </a:rPr>
              <a:t>Those sections are the most specific part of a competitive-programming problem statement. Removing them destroyed specificity.</a:t>
            </a:r>
            <a:endParaRPr lang="en-US" sz="1600" b="0" dirty="0">
              <a:solidFill>
                <a:srgbClr val="3D3D57"/>
              </a:solidFill>
              <a:latin typeface="Calibri"/>
            </a:endParaRPr>
          </a:p>
          <a:p>
            <a:pPr marL="0" indent="0">
              <a:spcBef>
                <a:spcPts val="0"/>
              </a:spcBef>
              <a:spcAft>
                <a:spcPts val="0"/>
              </a:spcAft>
              <a:buNone/>
            </a:pPr>
            <a:endParaRPr lang="en-IN" sz="1600" dirty="0">
              <a:solidFill>
                <a:srgbClr val="3D3D57"/>
              </a:solidFill>
              <a:latin typeface="Calibri"/>
            </a:endParaRPr>
          </a:p>
          <a:p>
            <a:pPr>
              <a:spcAft>
                <a:spcPts val="300"/>
              </a:spcAft>
            </a:pPr>
            <a:r>
              <a:rPr lang="en-US" sz="1600" b="1" dirty="0">
                <a:solidFill>
                  <a:srgbClr val="14142B"/>
                </a:solidFill>
              </a:rPr>
              <a:t>BM25 + dense fusion   →   −0.027 to −0.043</a:t>
            </a:r>
          </a:p>
          <a:p>
            <a:pPr>
              <a:spcAft>
                <a:spcPts val="1200"/>
              </a:spcAft>
            </a:pPr>
            <a:r>
              <a:rPr lang="en-US" sz="1600" dirty="0">
                <a:solidFill>
                  <a:srgbClr val="3D3D57"/>
                </a:solidFill>
              </a:rPr>
              <a:t>BM25 alone scores 0.0053. Fused with the dense ranker it only added noise. The stronger the encoder, the less there is for keyword matching to add.</a:t>
            </a:r>
          </a:p>
          <a:p>
            <a:pPr>
              <a:spcAft>
                <a:spcPts val="300"/>
              </a:spcAft>
            </a:pPr>
            <a:r>
              <a:rPr lang="en-US" sz="1600" b="1" dirty="0">
                <a:solidFill>
                  <a:srgbClr val="14142B"/>
                </a:solidFill>
              </a:rPr>
              <a:t>Cross-attention </a:t>
            </a:r>
            <a:r>
              <a:rPr lang="en-US" sz="1600" b="1" dirty="0" err="1">
                <a:solidFill>
                  <a:srgbClr val="14142B"/>
                </a:solidFill>
              </a:rPr>
              <a:t>reranker</a:t>
            </a:r>
            <a:r>
              <a:rPr lang="en-US" sz="1600" b="1" dirty="0">
                <a:solidFill>
                  <a:srgbClr val="14142B"/>
                </a:solidFill>
              </a:rPr>
              <a:t>   →   −0.012</a:t>
            </a:r>
          </a:p>
          <a:p>
            <a:pPr>
              <a:spcAft>
                <a:spcPts val="1200"/>
              </a:spcAft>
            </a:pPr>
            <a:r>
              <a:rPr lang="en-US" sz="1600" dirty="0">
                <a:solidFill>
                  <a:srgbClr val="3D3D57"/>
                </a:solidFill>
              </a:rPr>
              <a:t>A second-pass </a:t>
            </a:r>
            <a:r>
              <a:rPr lang="en-US" sz="1600" dirty="0" err="1">
                <a:solidFill>
                  <a:srgbClr val="3D3D57"/>
                </a:solidFill>
              </a:rPr>
              <a:t>reranker</a:t>
            </a:r>
            <a:r>
              <a:rPr lang="en-US" sz="1600" dirty="0">
                <a:solidFill>
                  <a:srgbClr val="3D3D57"/>
                </a:solidFill>
              </a:rPr>
              <a:t> over the top results. With a strong first-stage encoder there is little left to fix, and it hurt slightly.</a:t>
            </a:r>
          </a:p>
          <a:p>
            <a:r>
              <a:rPr lang="en-US" sz="1600" b="1" dirty="0">
                <a:solidFill>
                  <a:srgbClr val="14142B"/>
                </a:solidFill>
              </a:rPr>
              <a:t>The stronger the encoder, the more our hand-made processing got in its way.</a:t>
            </a:r>
          </a:p>
          <a:p>
            <a:pPr marL="0" indent="0">
              <a:spcBef>
                <a:spcPts val="0"/>
              </a:spcBef>
              <a:spcAft>
                <a:spcPts val="0"/>
              </a:spcAft>
              <a:buNone/>
            </a:pPr>
            <a:endParaRPr sz="1300" b="0" dirty="0">
              <a:solidFill>
                <a:srgbClr val="3D3D57"/>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822960"/>
          </a:xfrm>
        </p:spPr>
        <p:txBody>
          <a:bodyPr/>
          <a:lstStyle/>
          <a:p>
            <a:r>
              <a:rPr sz="3200" b="1">
                <a:solidFill>
                  <a:srgbClr val="704EA6"/>
                </a:solidFill>
                <a:latin typeface="+mn-lt"/>
              </a:rPr>
              <a:t>Correcting for hub snippets</a:t>
            </a:r>
          </a:p>
        </p:txBody>
      </p:sp>
      <p:sp>
        <p:nvSpPr>
          <p:cNvPr id="3" name="TextBox 2"/>
          <p:cNvSpPr txBox="1"/>
          <p:nvPr/>
        </p:nvSpPr>
        <p:spPr>
          <a:xfrm>
            <a:off x="841248" y="1325880"/>
            <a:ext cx="5394960" cy="4880823"/>
          </a:xfrm>
          <a:prstGeom prst="rect">
            <a:avLst/>
          </a:prstGeom>
          <a:noFill/>
        </p:spPr>
        <p:txBody>
          <a:bodyPr wrap="square" lIns="0" tIns="0" rIns="0" bIns="0" anchor="t">
            <a:spAutoFit/>
          </a:bodyPr>
          <a:lstStyle/>
          <a:p>
            <a:pPr marL="0" indent="0">
              <a:spcBef>
                <a:spcPts val="0"/>
              </a:spcBef>
              <a:spcAft>
                <a:spcPts val="300"/>
              </a:spcAft>
              <a:buNone/>
            </a:pPr>
            <a:r>
              <a:rPr b="1" dirty="0">
                <a:solidFill>
                  <a:srgbClr val="14142B"/>
                </a:solidFill>
                <a:latin typeface="Calibri"/>
              </a:rPr>
              <a:t>What we found</a:t>
            </a:r>
          </a:p>
          <a:p>
            <a:pPr marL="0" indent="0">
              <a:spcBef>
                <a:spcPts val="0"/>
              </a:spcBef>
              <a:spcAft>
                <a:spcPts val="700"/>
              </a:spcAft>
              <a:buNone/>
            </a:pPr>
            <a:r>
              <a:rPr b="0" dirty="0">
                <a:solidFill>
                  <a:srgbClr val="3D3D57"/>
                </a:solidFill>
                <a:latin typeface="Calibri"/>
              </a:rPr>
              <a:t>19.3% of wrong #1 answers came from a handful of "hub" snippets: generic solutions that sit close to every question.</a:t>
            </a:r>
          </a:p>
          <a:p>
            <a:pPr marL="0" indent="0">
              <a:spcBef>
                <a:spcPts val="0"/>
              </a:spcBef>
              <a:spcAft>
                <a:spcPts val="300"/>
              </a:spcAft>
              <a:buNone/>
            </a:pPr>
            <a:r>
              <a:rPr b="1" dirty="0">
                <a:solidFill>
                  <a:srgbClr val="14142B"/>
                </a:solidFill>
                <a:latin typeface="Calibri"/>
              </a:rPr>
              <a:t>The fix</a:t>
            </a:r>
          </a:p>
          <a:p>
            <a:pPr marL="0" indent="0">
              <a:spcBef>
                <a:spcPts val="0"/>
              </a:spcBef>
              <a:spcAft>
                <a:spcPts val="400"/>
              </a:spcAft>
              <a:buNone/>
            </a:pPr>
            <a:r>
              <a:rPr b="0" dirty="0">
                <a:solidFill>
                  <a:srgbClr val="3D3D57"/>
                </a:solidFill>
                <a:latin typeface="Calibri"/>
              </a:rPr>
              <a:t>Each document gets a hub score: its mean similarity to its 20 nearest training questions, excluding its own. The ranking score becomes</a:t>
            </a:r>
          </a:p>
          <a:p>
            <a:pPr marL="0" indent="0">
              <a:spcBef>
                <a:spcPts val="0"/>
              </a:spcBef>
              <a:spcAft>
                <a:spcPts val="800"/>
              </a:spcAft>
              <a:buNone/>
            </a:pPr>
            <a:r>
              <a:rPr b="1" dirty="0">
                <a:solidFill>
                  <a:srgbClr val="704EA6"/>
                </a:solidFill>
                <a:latin typeface="Calibri"/>
              </a:rPr>
              <a:t>cos(q, d) − 0.75 · hub(d)</a:t>
            </a:r>
          </a:p>
          <a:p>
            <a:pPr marL="0" indent="0">
              <a:spcBef>
                <a:spcPts val="0"/>
              </a:spcBef>
              <a:spcAft>
                <a:spcPts val="700"/>
              </a:spcAft>
              <a:buNone/>
            </a:pPr>
            <a:r>
              <a:rPr b="0" dirty="0">
                <a:solidFill>
                  <a:srgbClr val="3D3D57"/>
                </a:solidFill>
                <a:latin typeface="Calibri"/>
              </a:rPr>
              <a:t>k = 20 and β = 0.75 were chosen on the 1,000-query sample.</a:t>
            </a:r>
          </a:p>
          <a:p>
            <a:pPr marL="0" indent="0">
              <a:spcBef>
                <a:spcPts val="0"/>
              </a:spcBef>
              <a:spcAft>
                <a:spcPts val="300"/>
              </a:spcAft>
              <a:buNone/>
            </a:pPr>
            <a:r>
              <a:rPr b="1" dirty="0">
                <a:solidFill>
                  <a:srgbClr val="14142B"/>
                </a:solidFill>
                <a:latin typeface="Calibri"/>
              </a:rPr>
              <a:t>Why it is legitimate</a:t>
            </a:r>
          </a:p>
          <a:p>
            <a:pPr marL="0" indent="0">
              <a:spcBef>
                <a:spcPts val="0"/>
              </a:spcBef>
              <a:spcAft>
                <a:spcPts val="0"/>
              </a:spcAft>
              <a:buNone/>
            </a:pPr>
            <a:r>
              <a:rPr b="0" dirty="0">
                <a:solidFill>
                  <a:srgbClr val="3D3D57"/>
                </a:solidFill>
                <a:latin typeface="Calibri"/>
              </a:rPr>
              <a:t>Training questions only, never a test question or a test label. Applied only when MTEB says the task is </a:t>
            </a:r>
            <a:r>
              <a:rPr b="0" dirty="0" err="1">
                <a:solidFill>
                  <a:srgbClr val="3D3D57"/>
                </a:solidFill>
                <a:latin typeface="Calibri"/>
              </a:rPr>
              <a:t>AppsRetrieval</a:t>
            </a:r>
            <a:r>
              <a:rPr b="0" dirty="0">
                <a:solidFill>
                  <a:srgbClr val="3D3D57"/>
                </a:solidFill>
                <a:latin typeface="Calibri"/>
              </a:rPr>
              <a:t>. Disclosed in the README, SHORTCOMINGS and REPORT.</a:t>
            </a:r>
          </a:p>
        </p:txBody>
      </p:sp>
      <p:sp>
        <p:nvSpPr>
          <p:cNvPr id="4" name="TextBox 3"/>
          <p:cNvSpPr txBox="1"/>
          <p:nvPr/>
        </p:nvSpPr>
        <p:spPr>
          <a:xfrm>
            <a:off x="6849374" y="1958196"/>
            <a:ext cx="4900666" cy="3323987"/>
          </a:xfrm>
          <a:prstGeom prst="rect">
            <a:avLst/>
          </a:prstGeom>
          <a:solidFill>
            <a:schemeClr val="bg1"/>
          </a:solidFill>
          <a:ln>
            <a:solidFill>
              <a:srgbClr val="704EA6"/>
            </a:solidFill>
          </a:ln>
          <a:effectLst/>
          <a:scene3d>
            <a:camera prst="orthographicFront">
              <a:rot lat="0" lon="0" rev="0"/>
            </a:camera>
            <a:lightRig rig="contrasting" dir="t">
              <a:rot lat="0" lon="0" rev="7800000"/>
            </a:lightRig>
          </a:scene3d>
          <a:sp3d>
            <a:bevelT w="139700" h="139700"/>
          </a:sp3d>
        </p:spPr>
        <p:txBody>
          <a:bodyPr wrap="square" lIns="0" tIns="0" rIns="0" bIns="0" anchor="t">
            <a:spAutoFit/>
          </a:bodyPr>
          <a:lstStyle/>
          <a:p>
            <a:pPr marL="0" indent="0">
              <a:spcBef>
                <a:spcPts val="0"/>
              </a:spcBef>
              <a:spcAft>
                <a:spcPts val="1000"/>
              </a:spcAft>
              <a:buNone/>
            </a:pPr>
            <a:r>
              <a:rPr sz="1600" b="1" dirty="0">
                <a:solidFill>
                  <a:srgbClr val="14142B"/>
                </a:solidFill>
                <a:latin typeface="Calibri"/>
              </a:rPr>
              <a:t>Three checks on the final table</a:t>
            </a:r>
          </a:p>
          <a:p>
            <a:pPr marL="0" indent="0">
              <a:spcBef>
                <a:spcPts val="0"/>
              </a:spcBef>
              <a:spcAft>
                <a:spcPts val="200"/>
              </a:spcAft>
              <a:buNone/>
            </a:pPr>
            <a:r>
              <a:rPr sz="1600" b="1" dirty="0">
                <a:solidFill>
                  <a:srgbClr val="14142B"/>
                </a:solidFill>
                <a:latin typeface="Calibri"/>
              </a:rPr>
              <a:t>Gain on the full split</a:t>
            </a:r>
          </a:p>
          <a:p>
            <a:pPr marL="0" indent="0">
              <a:spcBef>
                <a:spcPts val="0"/>
              </a:spcBef>
              <a:spcAft>
                <a:spcPts val="1000"/>
              </a:spcAft>
              <a:buNone/>
            </a:pPr>
            <a:r>
              <a:rPr sz="1600" b="0" dirty="0">
                <a:solidFill>
                  <a:srgbClr val="3D3D57"/>
                </a:solidFill>
                <a:latin typeface="Calibri"/>
              </a:rPr>
              <a:t>+0.0340</a:t>
            </a:r>
          </a:p>
          <a:p>
            <a:pPr marL="0" indent="0">
              <a:spcBef>
                <a:spcPts val="0"/>
              </a:spcBef>
              <a:spcAft>
                <a:spcPts val="200"/>
              </a:spcAft>
              <a:buNone/>
            </a:pPr>
            <a:r>
              <a:rPr sz="1600" b="1" dirty="0">
                <a:solidFill>
                  <a:srgbClr val="14142B"/>
                </a:solidFill>
                <a:latin typeface="Calibri"/>
              </a:rPr>
              <a:t>2,765 held-out test queries, never used for any choice</a:t>
            </a:r>
          </a:p>
          <a:p>
            <a:pPr marL="0" indent="0">
              <a:spcBef>
                <a:spcPts val="0"/>
              </a:spcBef>
              <a:spcAft>
                <a:spcPts val="1000"/>
              </a:spcAft>
              <a:buNone/>
            </a:pPr>
            <a:r>
              <a:rPr sz="1600" b="0" dirty="0">
                <a:solidFill>
                  <a:srgbClr val="3D3D57"/>
                </a:solidFill>
                <a:latin typeface="Calibri"/>
              </a:rPr>
              <a:t>+0.0331  [+0.0266, +0.0404]</a:t>
            </a:r>
          </a:p>
          <a:p>
            <a:pPr marL="0" indent="0">
              <a:spcBef>
                <a:spcPts val="0"/>
              </a:spcBef>
              <a:spcAft>
                <a:spcPts val="200"/>
              </a:spcAft>
              <a:buNone/>
            </a:pPr>
            <a:r>
              <a:rPr sz="1600" b="1" dirty="0">
                <a:solidFill>
                  <a:srgbClr val="14142B"/>
                </a:solidFill>
                <a:latin typeface="Calibri"/>
              </a:rPr>
              <a:t>Same check — all 5,000 training answers removed from corpus</a:t>
            </a:r>
          </a:p>
          <a:p>
            <a:pPr marL="0" indent="0">
              <a:spcBef>
                <a:spcPts val="0"/>
              </a:spcBef>
              <a:spcAft>
                <a:spcPts val="1000"/>
              </a:spcAft>
              <a:buNone/>
            </a:pPr>
            <a:r>
              <a:rPr sz="1600" b="0" dirty="0">
                <a:solidFill>
                  <a:srgbClr val="3D3D57"/>
                </a:solidFill>
                <a:latin typeface="Calibri"/>
              </a:rPr>
              <a:t>+0.0237  [+0.0176, +0.0297]</a:t>
            </a:r>
          </a:p>
          <a:p>
            <a:pPr marL="0" indent="0">
              <a:spcBef>
                <a:spcPts val="0"/>
              </a:spcBef>
              <a:spcAft>
                <a:spcPts val="200"/>
              </a:spcAft>
              <a:buNone/>
            </a:pPr>
            <a:r>
              <a:rPr sz="1600" b="1" dirty="0">
                <a:solidFill>
                  <a:srgbClr val="14142B"/>
                </a:solidFill>
                <a:latin typeface="Calibri"/>
              </a:rPr>
              <a:t>Does the hub score separate training answers?  (AUC, 0.5 = random)</a:t>
            </a:r>
          </a:p>
          <a:p>
            <a:pPr marL="0" indent="0">
              <a:spcBef>
                <a:spcPts val="0"/>
              </a:spcBef>
              <a:spcAft>
                <a:spcPts val="0"/>
              </a:spcAft>
              <a:buNone/>
            </a:pPr>
            <a:r>
              <a:rPr sz="1600" b="0" dirty="0">
                <a:solidFill>
                  <a:srgbClr val="3D3D57"/>
                </a:solidFill>
                <a:latin typeface="Calibri"/>
              </a:rPr>
              <a:t>0.491 — no meaningful separation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822960"/>
          </a:xfrm>
        </p:spPr>
        <p:txBody>
          <a:bodyPr/>
          <a:lstStyle/>
          <a:p>
            <a:r>
              <a:rPr sz="3200" b="1">
                <a:solidFill>
                  <a:srgbClr val="704EA6"/>
                </a:solidFill>
                <a:latin typeface="+mn-lt"/>
              </a:rPr>
              <a:t>P1: retrieval across versions</a:t>
            </a:r>
          </a:p>
        </p:txBody>
      </p:sp>
      <p:sp>
        <p:nvSpPr>
          <p:cNvPr id="3" name="TextBox 2"/>
          <p:cNvSpPr txBox="1"/>
          <p:nvPr/>
        </p:nvSpPr>
        <p:spPr>
          <a:xfrm>
            <a:off x="841248" y="1325880"/>
            <a:ext cx="5120640" cy="2831544"/>
          </a:xfrm>
          <a:prstGeom prst="rect">
            <a:avLst/>
          </a:prstGeom>
          <a:noFill/>
        </p:spPr>
        <p:txBody>
          <a:bodyPr wrap="square" lIns="0" tIns="0" rIns="0" bIns="0" anchor="t">
            <a:spAutoFit/>
          </a:bodyPr>
          <a:lstStyle/>
          <a:p>
            <a:pPr marL="0" indent="0">
              <a:spcBef>
                <a:spcPts val="0"/>
              </a:spcBef>
              <a:spcAft>
                <a:spcPts val="1000"/>
              </a:spcAft>
              <a:buNone/>
            </a:pPr>
            <a:r>
              <a:rPr sz="1600" b="1" dirty="0" err="1">
                <a:solidFill>
                  <a:srgbClr val="14142B"/>
                </a:solidFill>
                <a:latin typeface="Calibri"/>
              </a:rPr>
              <a:t>npm</a:t>
            </a:r>
            <a:r>
              <a:rPr sz="1600" b="1" dirty="0">
                <a:solidFill>
                  <a:srgbClr val="14142B"/>
                </a:solidFill>
                <a:latin typeface="Calibri"/>
              </a:rPr>
              <a:t>/cli — seconds to build the index</a:t>
            </a:r>
          </a:p>
          <a:p>
            <a:pPr marL="0" indent="0">
              <a:spcBef>
                <a:spcPts val="0"/>
              </a:spcBef>
              <a:spcAft>
                <a:spcPts val="200"/>
              </a:spcAft>
              <a:buNone/>
            </a:pPr>
            <a:r>
              <a:rPr sz="1600" b="1" dirty="0">
                <a:solidFill>
                  <a:srgbClr val="14142B"/>
                </a:solidFill>
                <a:latin typeface="Calibri"/>
              </a:rPr>
              <a:t>Cold build (2,506 functions, first time)</a:t>
            </a:r>
          </a:p>
          <a:p>
            <a:pPr marL="0" indent="0">
              <a:spcBef>
                <a:spcPts val="0"/>
              </a:spcBef>
              <a:spcAft>
                <a:spcPts val="1000"/>
              </a:spcAft>
              <a:buNone/>
            </a:pPr>
            <a:r>
              <a:rPr sz="1600" b="0" dirty="0">
                <a:solidFill>
                  <a:srgbClr val="3D3D57"/>
                </a:solidFill>
                <a:latin typeface="Calibri"/>
              </a:rPr>
              <a:t>1,271 s</a:t>
            </a:r>
          </a:p>
          <a:p>
            <a:pPr marL="0" indent="0">
              <a:spcBef>
                <a:spcPts val="0"/>
              </a:spcBef>
              <a:spcAft>
                <a:spcPts val="200"/>
              </a:spcAft>
              <a:buNone/>
            </a:pPr>
            <a:r>
              <a:rPr sz="1600" b="1" dirty="0">
                <a:solidFill>
                  <a:srgbClr val="14142B"/>
                </a:solidFill>
                <a:latin typeface="Calibri"/>
              </a:rPr>
              <a:t>New release — most texts changed</a:t>
            </a:r>
          </a:p>
          <a:p>
            <a:pPr marL="0" indent="0">
              <a:spcBef>
                <a:spcPts val="0"/>
              </a:spcBef>
              <a:spcAft>
                <a:spcPts val="1000"/>
              </a:spcAft>
              <a:buNone/>
            </a:pPr>
            <a:r>
              <a:rPr sz="1600" b="0" dirty="0">
                <a:solidFill>
                  <a:srgbClr val="3D3D57"/>
                </a:solidFill>
                <a:latin typeface="Calibri"/>
              </a:rPr>
              <a:t>104 s</a:t>
            </a:r>
          </a:p>
          <a:p>
            <a:pPr marL="0" indent="0">
              <a:spcBef>
                <a:spcPts val="0"/>
              </a:spcBef>
              <a:spcAft>
                <a:spcPts val="200"/>
              </a:spcAft>
              <a:buNone/>
            </a:pPr>
            <a:r>
              <a:rPr sz="1600" b="1" dirty="0">
                <a:solidFill>
                  <a:srgbClr val="14142B"/>
                </a:solidFill>
                <a:latin typeface="Calibri"/>
              </a:rPr>
              <a:t>New release — fewest texts changed</a:t>
            </a:r>
          </a:p>
          <a:p>
            <a:pPr marL="0" indent="0">
              <a:spcBef>
                <a:spcPts val="0"/>
              </a:spcBef>
              <a:spcAft>
                <a:spcPts val="1000"/>
              </a:spcAft>
              <a:buNone/>
            </a:pPr>
            <a:r>
              <a:rPr sz="1600" b="0" dirty="0">
                <a:solidFill>
                  <a:srgbClr val="3D3D57"/>
                </a:solidFill>
                <a:latin typeface="Calibri"/>
              </a:rPr>
              <a:t>28 s</a:t>
            </a:r>
          </a:p>
          <a:p>
            <a:pPr marL="0" indent="0">
              <a:spcBef>
                <a:spcPts val="0"/>
              </a:spcBef>
              <a:spcAft>
                <a:spcPts val="200"/>
              </a:spcAft>
              <a:buNone/>
            </a:pPr>
            <a:r>
              <a:rPr sz="1600" b="1" dirty="0">
                <a:solidFill>
                  <a:srgbClr val="14142B"/>
                </a:solidFill>
                <a:latin typeface="Calibri"/>
              </a:rPr>
              <a:t>git sync per commit, no indexed code changed</a:t>
            </a:r>
          </a:p>
          <a:p>
            <a:pPr marL="0" indent="0">
              <a:spcBef>
                <a:spcPts val="0"/>
              </a:spcBef>
              <a:spcAft>
                <a:spcPts val="0"/>
              </a:spcAft>
              <a:buNone/>
            </a:pPr>
            <a:r>
              <a:rPr sz="1600" b="0" dirty="0">
                <a:solidFill>
                  <a:srgbClr val="3D3D57"/>
                </a:solidFill>
                <a:latin typeface="Calibri"/>
              </a:rPr>
              <a:t>12.8 s median</a:t>
            </a:r>
          </a:p>
        </p:txBody>
      </p:sp>
      <p:sp>
        <p:nvSpPr>
          <p:cNvPr id="4" name="TextBox 3"/>
          <p:cNvSpPr txBox="1"/>
          <p:nvPr/>
        </p:nvSpPr>
        <p:spPr>
          <a:xfrm>
            <a:off x="6400800" y="1325880"/>
            <a:ext cx="4937760" cy="3870290"/>
          </a:xfrm>
          <a:prstGeom prst="rect">
            <a:avLst/>
          </a:prstGeom>
          <a:noFill/>
        </p:spPr>
        <p:txBody>
          <a:bodyPr wrap="square" lIns="0" tIns="0" rIns="0" bIns="0" anchor="t">
            <a:spAutoFit/>
          </a:bodyPr>
          <a:lstStyle/>
          <a:p>
            <a:pPr marL="0" indent="0">
              <a:spcBef>
                <a:spcPts val="0"/>
              </a:spcBef>
              <a:spcAft>
                <a:spcPts val="300"/>
              </a:spcAft>
              <a:buNone/>
            </a:pPr>
            <a:r>
              <a:rPr sz="1600" b="1" dirty="0">
                <a:solidFill>
                  <a:srgbClr val="14142B"/>
                </a:solidFill>
                <a:latin typeface="Calibri"/>
              </a:rPr>
              <a:t>Only changed code is re-embedded</a:t>
            </a:r>
          </a:p>
          <a:p>
            <a:pPr marL="0" indent="0">
              <a:spcBef>
                <a:spcPts val="0"/>
              </a:spcBef>
              <a:spcAft>
                <a:spcPts val="1200"/>
              </a:spcAft>
              <a:buNone/>
            </a:pPr>
            <a:r>
              <a:rPr sz="1600" b="0" dirty="0">
                <a:solidFill>
                  <a:srgbClr val="3D3D57"/>
                </a:solidFill>
                <a:latin typeface="Calibri"/>
              </a:rPr>
              <a:t>Every vector is keyed by the exact text that was embedded. A function that did not change is never encoded again, in any version. All versions live side by side in one SQLite index.</a:t>
            </a:r>
          </a:p>
          <a:p>
            <a:pPr marL="0" indent="0">
              <a:spcBef>
                <a:spcPts val="0"/>
              </a:spcBef>
              <a:spcAft>
                <a:spcPts val="300"/>
              </a:spcAft>
              <a:buNone/>
            </a:pPr>
            <a:r>
              <a:rPr sz="1600" b="1" dirty="0">
                <a:solidFill>
                  <a:srgbClr val="14142B"/>
                </a:solidFill>
                <a:latin typeface="Calibri"/>
              </a:rPr>
              <a:t>On </a:t>
            </a:r>
            <a:r>
              <a:rPr sz="1600" b="1" dirty="0" err="1">
                <a:solidFill>
                  <a:srgbClr val="14142B"/>
                </a:solidFill>
                <a:latin typeface="Calibri"/>
              </a:rPr>
              <a:t>npm</a:t>
            </a:r>
            <a:r>
              <a:rPr sz="1600" b="1" dirty="0">
                <a:solidFill>
                  <a:srgbClr val="14142B"/>
                </a:solidFill>
                <a:latin typeface="Calibri"/>
              </a:rPr>
              <a:t> releases</a:t>
            </a:r>
          </a:p>
          <a:p>
            <a:pPr marL="0" indent="0">
              <a:spcBef>
                <a:spcPts val="0"/>
              </a:spcBef>
              <a:spcAft>
                <a:spcPts val="1200"/>
              </a:spcAft>
              <a:buNone/>
            </a:pPr>
            <a:r>
              <a:rPr sz="1600" b="0" dirty="0">
                <a:solidFill>
                  <a:srgbClr val="3D3D57"/>
                </a:solidFill>
                <a:latin typeface="Calibri"/>
              </a:rPr>
              <a:t>The cold build processes 2,506 texts. Each following release re-encodes only 22 to 170 texts — the functions that actually changed.</a:t>
            </a:r>
          </a:p>
          <a:p>
            <a:pPr marL="0" indent="0">
              <a:spcBef>
                <a:spcPts val="0"/>
              </a:spcBef>
              <a:spcAft>
                <a:spcPts val="300"/>
              </a:spcAft>
              <a:buNone/>
            </a:pPr>
            <a:r>
              <a:rPr sz="1600" b="1" dirty="0">
                <a:solidFill>
                  <a:srgbClr val="14142B"/>
                </a:solidFill>
                <a:latin typeface="Calibri"/>
              </a:rPr>
              <a:t>On git commits</a:t>
            </a:r>
          </a:p>
          <a:p>
            <a:pPr marL="0" indent="0">
              <a:spcBef>
                <a:spcPts val="0"/>
              </a:spcBef>
              <a:spcAft>
                <a:spcPts val="0"/>
              </a:spcAft>
              <a:buNone/>
            </a:pPr>
            <a:r>
              <a:rPr sz="1600" b="0" dirty="0">
                <a:solidFill>
                  <a:srgbClr val="3D3D57"/>
                </a:solidFill>
                <a:latin typeface="Calibri"/>
              </a:rPr>
              <a:t>debug907 sync &lt;repo&gt; indexes any commit as a version named by its short hash. It only reads the repository: nothing is checked out and no hooks are installed. --watch follows new commits.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822960"/>
          </a:xfrm>
        </p:spPr>
        <p:txBody>
          <a:bodyPr/>
          <a:lstStyle/>
          <a:p>
            <a:r>
              <a:rPr sz="3200" b="1">
                <a:solidFill>
                  <a:srgbClr val="704EA6"/>
                </a:solidFill>
                <a:latin typeface="+mn-lt"/>
              </a:rPr>
              <a:t>Bonus: evolutionary retrieval</a:t>
            </a:r>
          </a:p>
        </p:txBody>
      </p:sp>
      <p:sp>
        <p:nvSpPr>
          <p:cNvPr id="4" name="TextBox 3"/>
          <p:cNvSpPr txBox="1"/>
          <p:nvPr/>
        </p:nvSpPr>
        <p:spPr>
          <a:xfrm>
            <a:off x="841248" y="1043796"/>
            <a:ext cx="10780142" cy="5429692"/>
          </a:xfrm>
          <a:prstGeom prst="rect">
            <a:avLst/>
          </a:prstGeom>
          <a:noFill/>
        </p:spPr>
        <p:txBody>
          <a:bodyPr wrap="square" lIns="0" tIns="0" rIns="0" bIns="0" anchor="t">
            <a:spAutoFit/>
          </a:bodyPr>
          <a:lstStyle/>
          <a:p>
            <a:pPr marL="0" indent="0">
              <a:spcBef>
                <a:spcPts val="0"/>
              </a:spcBef>
              <a:spcAft>
                <a:spcPts val="300"/>
              </a:spcAft>
              <a:buNone/>
            </a:pPr>
            <a:r>
              <a:rPr sz="1600" b="1" dirty="0">
                <a:solidFill>
                  <a:srgbClr val="14142B"/>
                </a:solidFill>
                <a:latin typeface="Calibri"/>
              </a:rPr>
              <a:t>The problem</a:t>
            </a:r>
          </a:p>
          <a:p>
            <a:pPr marL="0" indent="0">
              <a:spcBef>
                <a:spcPts val="0"/>
              </a:spcBef>
              <a:spcAft>
                <a:spcPts val="1200"/>
              </a:spcAft>
              <a:buNone/>
            </a:pPr>
            <a:r>
              <a:rPr sz="1600" b="0" dirty="0">
                <a:solidFill>
                  <a:srgbClr val="3D3D57"/>
                </a:solidFill>
                <a:latin typeface="Calibri"/>
              </a:rPr>
              <a:t>Three </a:t>
            </a:r>
            <a:r>
              <a:rPr sz="1600" b="0" dirty="0" err="1">
                <a:solidFill>
                  <a:srgbClr val="3D3D57"/>
                </a:solidFill>
                <a:latin typeface="Calibri"/>
              </a:rPr>
              <a:t>npm</a:t>
            </a:r>
            <a:r>
              <a:rPr sz="1600" b="0" dirty="0">
                <a:solidFill>
                  <a:srgbClr val="3D3D57"/>
                </a:solidFill>
                <a:latin typeface="Calibri"/>
              </a:rPr>
              <a:t> releases loaded, queried together: the top 10 held only 4 distinct functions. The same Publish class showed up once per release and filled the list.</a:t>
            </a:r>
          </a:p>
          <a:p>
            <a:pPr marL="0" indent="0">
              <a:spcBef>
                <a:spcPts val="0"/>
              </a:spcBef>
              <a:spcAft>
                <a:spcPts val="300"/>
              </a:spcAft>
              <a:buNone/>
            </a:pPr>
            <a:r>
              <a:rPr sz="1600" b="1" dirty="0">
                <a:solidFill>
                  <a:srgbClr val="14142B"/>
                </a:solidFill>
                <a:latin typeface="Calibri"/>
              </a:rPr>
              <a:t>What we built — version collapse</a:t>
            </a:r>
          </a:p>
          <a:p>
            <a:pPr marL="0" indent="0">
              <a:spcBef>
                <a:spcPts val="0"/>
              </a:spcBef>
              <a:spcAft>
                <a:spcPts val="1200"/>
              </a:spcAft>
              <a:buNone/>
            </a:pPr>
            <a:r>
              <a:rPr sz="1600" b="0" dirty="0">
                <a:solidFill>
                  <a:srgbClr val="3D3D57"/>
                </a:solidFill>
                <a:latin typeface="Calibri"/>
              </a:rPr>
              <a:t>One row per function, labelled with every version it appears in. "=" means identical to the </a:t>
            </a:r>
            <a:r>
              <a:rPr sz="1600" b="0" dirty="0" err="1">
                <a:solidFill>
                  <a:srgbClr val="3D3D57"/>
                </a:solidFill>
                <a:latin typeface="Calibri"/>
              </a:rPr>
              <a:t>neighbour</a:t>
            </a:r>
            <a:r>
              <a:rPr sz="1600" b="0" dirty="0">
                <a:solidFill>
                  <a:srgbClr val="3D3D57"/>
                </a:solidFill>
                <a:latin typeface="Calibri"/>
              </a:rPr>
              <a:t>, "!=" means the code changed. :history N shows each version with a diff.</a:t>
            </a:r>
          </a:p>
          <a:p>
            <a:pPr marL="0" indent="0">
              <a:spcBef>
                <a:spcPts val="0"/>
              </a:spcBef>
              <a:spcAft>
                <a:spcPts val="300"/>
              </a:spcAft>
              <a:buNone/>
            </a:pPr>
            <a:r>
              <a:rPr sz="1600" b="1" dirty="0" err="1">
                <a:solidFill>
                  <a:srgbClr val="14142B"/>
                </a:solidFill>
                <a:latin typeface="Calibri"/>
              </a:rPr>
              <a:t>npm</a:t>
            </a:r>
            <a:r>
              <a:rPr sz="1600" b="1" dirty="0">
                <a:solidFill>
                  <a:srgbClr val="14142B"/>
                </a:solidFill>
                <a:latin typeface="Calibri"/>
              </a:rPr>
              <a:t> Publish, real result</a:t>
            </a:r>
          </a:p>
          <a:p>
            <a:pPr marL="0" indent="0">
              <a:spcBef>
                <a:spcPts val="0"/>
              </a:spcBef>
              <a:spcAft>
                <a:spcPts val="600"/>
              </a:spcAft>
              <a:buNone/>
            </a:pPr>
            <a:r>
              <a:rPr sz="1600" b="0" dirty="0">
                <a:solidFill>
                  <a:srgbClr val="704EA6"/>
                </a:solidFill>
                <a:latin typeface="Calibri"/>
              </a:rPr>
              <a:t>v10.8.0  ≠  v10.8.1  =  v10.8.2  ≠  v10.8.3  =  v10.9.0</a:t>
            </a:r>
          </a:p>
          <a:p>
            <a:pPr marL="0" indent="0">
              <a:spcBef>
                <a:spcPts val="0"/>
              </a:spcBef>
              <a:spcAft>
                <a:spcPts val="0"/>
              </a:spcAft>
              <a:buNone/>
            </a:pPr>
            <a:r>
              <a:rPr sz="1600" b="0" dirty="0">
                <a:solidFill>
                  <a:srgbClr val="6B6B85"/>
                </a:solidFill>
                <a:latin typeface="Calibri"/>
              </a:rPr>
              <a:t>One row, not five. Changed twice across five releases.</a:t>
            </a:r>
            <a:endParaRPr lang="en-US" sz="1600" dirty="0">
              <a:solidFill>
                <a:srgbClr val="6B6B85"/>
              </a:solidFill>
              <a:latin typeface="Calibri"/>
            </a:endParaRPr>
          </a:p>
          <a:p>
            <a:pPr marL="0" indent="0">
              <a:spcBef>
                <a:spcPts val="0"/>
              </a:spcBef>
              <a:spcAft>
                <a:spcPts val="0"/>
              </a:spcAft>
              <a:buNone/>
            </a:pPr>
            <a:endParaRPr lang="en-IN" sz="1600" dirty="0">
              <a:solidFill>
                <a:srgbClr val="6B6B85"/>
              </a:solidFill>
              <a:latin typeface="Calibri"/>
            </a:endParaRPr>
          </a:p>
          <a:p>
            <a:pPr>
              <a:spcAft>
                <a:spcPts val="300"/>
              </a:spcAft>
            </a:pPr>
            <a:r>
              <a:rPr lang="en-US" b="1" dirty="0">
                <a:solidFill>
                  <a:srgbClr val="14142B"/>
                </a:solidFill>
              </a:rPr>
              <a:t>Numbers</a:t>
            </a:r>
          </a:p>
          <a:p>
            <a:pPr>
              <a:spcAft>
                <a:spcPts val="800"/>
              </a:spcAft>
            </a:pPr>
            <a:r>
              <a:rPr lang="en-US" sz="1600" dirty="0">
                <a:solidFill>
                  <a:srgbClr val="3D3D57"/>
                </a:solidFill>
              </a:rPr>
              <a:t>3 </a:t>
            </a:r>
            <a:r>
              <a:rPr lang="en-US" sz="1600" dirty="0" err="1">
                <a:solidFill>
                  <a:srgbClr val="3D3D57"/>
                </a:solidFill>
              </a:rPr>
              <a:t>npm</a:t>
            </a:r>
            <a:r>
              <a:rPr lang="en-US" sz="1600" dirty="0">
                <a:solidFill>
                  <a:srgbClr val="3D3D57"/>
                </a:solidFill>
              </a:rPr>
              <a:t> releases (10.8.0 – 10.9.0):  4 → 10 distinct functions in the top 10 with collapse on.</a:t>
            </a:r>
          </a:p>
          <a:p>
            <a:pPr>
              <a:spcAft>
                <a:spcPts val="800"/>
              </a:spcAft>
            </a:pPr>
            <a:r>
              <a:rPr lang="en-US" sz="1600" dirty="0">
                <a:solidFill>
                  <a:srgbClr val="3D3D57"/>
                </a:solidFill>
              </a:rPr>
              <a:t>5 releases, 13,292 snippets in one index:  2 → 10.</a:t>
            </a:r>
          </a:p>
          <a:p>
            <a:pPr>
              <a:spcAft>
                <a:spcPts val="1200"/>
              </a:spcAft>
            </a:pPr>
            <a:r>
              <a:rPr lang="en-US" sz="1600" dirty="0">
                <a:solidFill>
                  <a:srgbClr val="3D3D57"/>
                </a:solidFill>
              </a:rPr>
              <a:t>Synthetic-version benchmark:  8.77 → 10.00 distinct solutions in the top 10.</a:t>
            </a:r>
          </a:p>
          <a:p>
            <a:pPr>
              <a:spcAft>
                <a:spcPts val="300"/>
              </a:spcAft>
            </a:pPr>
            <a:r>
              <a:rPr lang="en-US" b="1" dirty="0">
                <a:solidFill>
                  <a:srgbClr val="14142B"/>
                </a:solidFill>
              </a:rPr>
              <a:t>How</a:t>
            </a:r>
          </a:p>
          <a:p>
            <a:r>
              <a:rPr lang="en-US" sz="1600" dirty="0">
                <a:solidFill>
                  <a:srgbClr val="3D3D57"/>
                </a:solidFill>
              </a:rPr>
              <a:t>Vectors keyed by exact text, so unchanged code is shared across versions and never re-embedded. Only the changed functions are re-encoded per release.</a:t>
            </a:r>
          </a:p>
          <a:p>
            <a:pPr marL="0" indent="0">
              <a:spcBef>
                <a:spcPts val="0"/>
              </a:spcBef>
              <a:spcAft>
                <a:spcPts val="0"/>
              </a:spcAft>
              <a:buNone/>
            </a:pPr>
            <a:endParaRPr sz="1600" b="0" dirty="0">
              <a:solidFill>
                <a:srgbClr val="6B6B85"/>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r>
              <a:rPr sz="3200" b="1">
                <a:solidFill>
                  <a:srgbClr val="704EA6"/>
                </a:solidFill>
                <a:latin typeface="+mn-lt"/>
              </a:rPr>
              <a:t>Demo &amp; Product Walkthrough</a:t>
            </a:r>
          </a:p>
        </p:txBody>
      </p:sp>
      <p:sp>
        <p:nvSpPr>
          <p:cNvPr id="3" name="TextBox 2"/>
          <p:cNvSpPr txBox="1"/>
          <p:nvPr/>
        </p:nvSpPr>
        <p:spPr>
          <a:xfrm>
            <a:off x="841248" y="1280160"/>
            <a:ext cx="10515600" cy="215444"/>
          </a:xfrm>
          <a:prstGeom prst="rect">
            <a:avLst/>
          </a:prstGeom>
          <a:noFill/>
        </p:spPr>
        <p:txBody>
          <a:bodyPr wrap="square" lIns="0" tIns="0" rIns="0" bIns="0" anchor="t">
            <a:spAutoFit/>
          </a:bodyPr>
          <a:lstStyle/>
          <a:p>
            <a:pPr marL="0" indent="0">
              <a:spcBef>
                <a:spcPts val="0"/>
              </a:spcBef>
              <a:spcAft>
                <a:spcPts val="0"/>
              </a:spcAft>
              <a:buNone/>
            </a:pPr>
            <a:r>
              <a:rPr sz="1400" b="1" dirty="0">
                <a:solidFill>
                  <a:srgbClr val="6B6B85"/>
                </a:solidFill>
                <a:latin typeface="Calibri"/>
              </a:rPr>
              <a:t>python cli.py opens on </a:t>
            </a:r>
            <a:r>
              <a:rPr sz="1400" b="1" dirty="0" err="1">
                <a:solidFill>
                  <a:srgbClr val="6B6B85"/>
                </a:solidFill>
                <a:latin typeface="Calibri"/>
              </a:rPr>
              <a:t>npm's</a:t>
            </a:r>
            <a:r>
              <a:rPr sz="1400" b="1" dirty="0">
                <a:solidFill>
                  <a:srgbClr val="6B6B85"/>
                </a:solidFill>
                <a:latin typeface="Calibri"/>
              </a:rPr>
              <a:t> source (</a:t>
            </a:r>
            <a:r>
              <a:rPr sz="1400" b="1" dirty="0" err="1">
                <a:solidFill>
                  <a:srgbClr val="6B6B85"/>
                </a:solidFill>
                <a:latin typeface="Calibri"/>
              </a:rPr>
              <a:t>npm</a:t>
            </a:r>
            <a:r>
              <a:rPr sz="1400" b="1" dirty="0">
                <a:solidFill>
                  <a:srgbClr val="6B6B85"/>
                </a:solidFill>
                <a:latin typeface="Calibri"/>
              </a:rPr>
              <a:t>/cli 10.9.0, 2,663 functions). The tool always prints how it read the question.</a:t>
            </a:r>
          </a:p>
        </p:txBody>
      </p:sp>
      <p:sp>
        <p:nvSpPr>
          <p:cNvPr id="4" name="TextBox 3"/>
          <p:cNvSpPr txBox="1"/>
          <p:nvPr/>
        </p:nvSpPr>
        <p:spPr>
          <a:xfrm>
            <a:off x="841248" y="1783080"/>
            <a:ext cx="5120640" cy="2323713"/>
          </a:xfrm>
          <a:prstGeom prst="rect">
            <a:avLst/>
          </a:prstGeom>
          <a:noFill/>
        </p:spPr>
        <p:txBody>
          <a:bodyPr wrap="square" lIns="0" tIns="0" rIns="0" bIns="0" anchor="t">
            <a:spAutoFit/>
          </a:bodyPr>
          <a:lstStyle/>
          <a:p>
            <a:pPr marL="0" indent="0">
              <a:spcBef>
                <a:spcPts val="0"/>
              </a:spcBef>
              <a:spcAft>
                <a:spcPts val="800"/>
              </a:spcAft>
              <a:buNone/>
            </a:pPr>
            <a:r>
              <a:rPr sz="1400" b="1" dirty="0">
                <a:solidFill>
                  <a:srgbClr val="14142B"/>
                </a:solidFill>
                <a:latin typeface="Calibri"/>
              </a:rPr>
              <a:t>Question → how the tool reads it</a:t>
            </a:r>
          </a:p>
          <a:p>
            <a:pPr marL="0" indent="0">
              <a:spcBef>
                <a:spcPts val="0"/>
              </a:spcBef>
              <a:spcAft>
                <a:spcPts val="200"/>
              </a:spcAft>
              <a:buNone/>
            </a:pPr>
            <a:r>
              <a:rPr sz="1400" b="1" dirty="0">
                <a:solidFill>
                  <a:srgbClr val="14142B"/>
                </a:solidFill>
                <a:latin typeface="Calibri"/>
              </a:rPr>
              <a:t>"how does </a:t>
            </a:r>
            <a:r>
              <a:rPr sz="1400" b="1" dirty="0" err="1">
                <a:solidFill>
                  <a:srgbClr val="14142B"/>
                </a:solidFill>
                <a:latin typeface="Calibri"/>
              </a:rPr>
              <a:t>npm</a:t>
            </a:r>
            <a:r>
              <a:rPr sz="1400" b="1" dirty="0">
                <a:solidFill>
                  <a:srgbClr val="14142B"/>
                </a:solidFill>
                <a:latin typeface="Calibri"/>
              </a:rPr>
              <a:t> decide a package is outdated"</a:t>
            </a:r>
          </a:p>
          <a:p>
            <a:pPr marL="0" indent="0">
              <a:spcBef>
                <a:spcPts val="0"/>
              </a:spcBef>
              <a:spcAft>
                <a:spcPts val="800"/>
              </a:spcAft>
              <a:buNone/>
            </a:pPr>
            <a:r>
              <a:rPr sz="1400" b="0" dirty="0">
                <a:solidFill>
                  <a:srgbClr val="3D3D57"/>
                </a:solidFill>
                <a:latin typeface="Calibri"/>
              </a:rPr>
              <a:t>→ ranked semantic search   |   Outdated command, outdated.js, ~80 </a:t>
            </a:r>
            <a:r>
              <a:rPr sz="1400" b="0" dirty="0" err="1">
                <a:solidFill>
                  <a:srgbClr val="3D3D57"/>
                </a:solidFill>
                <a:latin typeface="Calibri"/>
              </a:rPr>
              <a:t>ms</a:t>
            </a:r>
            <a:endParaRPr sz="1400" b="0" dirty="0">
              <a:solidFill>
                <a:srgbClr val="3D3D57"/>
              </a:solidFill>
              <a:latin typeface="Calibri"/>
            </a:endParaRPr>
          </a:p>
          <a:p>
            <a:pPr marL="0" indent="0">
              <a:spcBef>
                <a:spcPts val="0"/>
              </a:spcBef>
              <a:spcAft>
                <a:spcPts val="200"/>
              </a:spcAft>
              <a:buNone/>
            </a:pPr>
            <a:r>
              <a:rPr sz="1400" b="1" dirty="0">
                <a:solidFill>
                  <a:srgbClr val="14142B"/>
                </a:solidFill>
                <a:latin typeface="Calibri"/>
              </a:rPr>
              <a:t>"where is </a:t>
            </a:r>
            <a:r>
              <a:rPr sz="1400" b="1" dirty="0" err="1">
                <a:solidFill>
                  <a:srgbClr val="14142B"/>
                </a:solidFill>
                <a:latin typeface="Calibri"/>
              </a:rPr>
              <a:t>otplease</a:t>
            </a:r>
            <a:r>
              <a:rPr sz="1400" b="1" dirty="0">
                <a:solidFill>
                  <a:srgbClr val="14142B"/>
                </a:solidFill>
                <a:latin typeface="Calibri"/>
              </a:rPr>
              <a:t> used"</a:t>
            </a:r>
          </a:p>
          <a:p>
            <a:pPr marL="0" indent="0">
              <a:spcBef>
                <a:spcPts val="0"/>
              </a:spcBef>
              <a:spcAft>
                <a:spcPts val="800"/>
              </a:spcAft>
              <a:buNone/>
            </a:pPr>
            <a:r>
              <a:rPr sz="1400" b="0" dirty="0">
                <a:solidFill>
                  <a:srgbClr val="3D3D57"/>
                </a:solidFill>
                <a:latin typeface="Calibri"/>
              </a:rPr>
              <a:t>→ usages of </a:t>
            </a:r>
            <a:r>
              <a:rPr sz="1400" b="0" dirty="0" err="1">
                <a:solidFill>
                  <a:srgbClr val="3D3D57"/>
                </a:solidFill>
                <a:latin typeface="Calibri"/>
              </a:rPr>
              <a:t>otplease</a:t>
            </a:r>
            <a:r>
              <a:rPr sz="1400" b="0" dirty="0">
                <a:solidFill>
                  <a:srgbClr val="3D3D57"/>
                </a:solidFill>
                <a:latin typeface="Calibri"/>
              </a:rPr>
              <a:t>   |   19 lines in 13 files, file:line for each</a:t>
            </a:r>
          </a:p>
          <a:p>
            <a:pPr marL="0" indent="0">
              <a:spcBef>
                <a:spcPts val="0"/>
              </a:spcBef>
              <a:spcAft>
                <a:spcPts val="200"/>
              </a:spcAft>
              <a:buNone/>
            </a:pPr>
            <a:r>
              <a:rPr sz="1400" b="1" dirty="0">
                <a:solidFill>
                  <a:srgbClr val="14142B"/>
                </a:solidFill>
                <a:latin typeface="Calibri"/>
              </a:rPr>
              <a:t>"where is the </a:t>
            </a:r>
            <a:r>
              <a:rPr sz="1400" b="1" dirty="0" err="1">
                <a:solidFill>
                  <a:srgbClr val="14142B"/>
                </a:solidFill>
                <a:latin typeface="Calibri"/>
              </a:rPr>
              <a:t>npm</a:t>
            </a:r>
            <a:r>
              <a:rPr sz="1400" b="1" dirty="0">
                <a:solidFill>
                  <a:srgbClr val="14142B"/>
                </a:solidFill>
                <a:latin typeface="Calibri"/>
              </a:rPr>
              <a:t> registry fetch module used"</a:t>
            </a:r>
          </a:p>
          <a:p>
            <a:pPr marL="0" indent="0">
              <a:spcBef>
                <a:spcPts val="0"/>
              </a:spcBef>
              <a:spcAft>
                <a:spcPts val="800"/>
              </a:spcAft>
              <a:buNone/>
            </a:pPr>
            <a:r>
              <a:rPr sz="1400" b="0" dirty="0">
                <a:solidFill>
                  <a:srgbClr val="3D3D57"/>
                </a:solidFill>
                <a:latin typeface="Calibri"/>
              </a:rPr>
              <a:t>→ usages of </a:t>
            </a:r>
            <a:r>
              <a:rPr sz="1400" b="0" dirty="0" err="1">
                <a:solidFill>
                  <a:srgbClr val="3D3D57"/>
                </a:solidFill>
                <a:latin typeface="Calibri"/>
              </a:rPr>
              <a:t>npm</a:t>
            </a:r>
            <a:r>
              <a:rPr sz="1400" b="0" dirty="0">
                <a:solidFill>
                  <a:srgbClr val="3D3D57"/>
                </a:solidFill>
                <a:latin typeface="Calibri"/>
              </a:rPr>
              <a:t>-registry-fetch   |   name was written in words, resolved to the package</a:t>
            </a:r>
          </a:p>
        </p:txBody>
      </p:sp>
      <p:sp>
        <p:nvSpPr>
          <p:cNvPr id="5" name="TextBox 4"/>
          <p:cNvSpPr txBox="1"/>
          <p:nvPr/>
        </p:nvSpPr>
        <p:spPr>
          <a:xfrm>
            <a:off x="6309360" y="1783080"/>
            <a:ext cx="5074920" cy="1892826"/>
          </a:xfrm>
          <a:prstGeom prst="rect">
            <a:avLst/>
          </a:prstGeom>
          <a:noFill/>
        </p:spPr>
        <p:txBody>
          <a:bodyPr wrap="square" lIns="0" tIns="0" rIns="0" bIns="0" anchor="t">
            <a:spAutoFit/>
          </a:bodyPr>
          <a:lstStyle/>
          <a:p>
            <a:pPr marL="0" indent="0">
              <a:spcBef>
                <a:spcPts val="0"/>
              </a:spcBef>
              <a:spcAft>
                <a:spcPts val="800"/>
              </a:spcAft>
              <a:buNone/>
            </a:pPr>
            <a:r>
              <a:rPr sz="1400" b="1" dirty="0">
                <a:solidFill>
                  <a:srgbClr val="14142B"/>
                </a:solidFill>
                <a:latin typeface="Calibri"/>
              </a:rPr>
              <a:t>  </a:t>
            </a:r>
          </a:p>
          <a:p>
            <a:pPr marL="0" indent="0">
              <a:spcBef>
                <a:spcPts val="0"/>
              </a:spcBef>
              <a:spcAft>
                <a:spcPts val="200"/>
              </a:spcAft>
              <a:buNone/>
            </a:pPr>
            <a:r>
              <a:rPr sz="1400" b="1" dirty="0">
                <a:solidFill>
                  <a:srgbClr val="14142B"/>
                </a:solidFill>
                <a:latin typeface="Calibri"/>
              </a:rPr>
              <a:t>"who calls </a:t>
            </a:r>
            <a:r>
              <a:rPr sz="1400" b="1" dirty="0" err="1">
                <a:solidFill>
                  <a:srgbClr val="14142B"/>
                </a:solidFill>
                <a:latin typeface="Calibri"/>
              </a:rPr>
              <a:t>getCredentialsByURI</a:t>
            </a:r>
            <a:r>
              <a:rPr sz="1400" b="1" dirty="0">
                <a:solidFill>
                  <a:srgbClr val="14142B"/>
                </a:solidFill>
                <a:latin typeface="Calibri"/>
              </a:rPr>
              <a:t>"</a:t>
            </a:r>
          </a:p>
          <a:p>
            <a:pPr marL="0" indent="0">
              <a:spcBef>
                <a:spcPts val="0"/>
              </a:spcBef>
              <a:spcAft>
                <a:spcPts val="800"/>
              </a:spcAft>
              <a:buNone/>
            </a:pPr>
            <a:r>
              <a:rPr sz="1400" b="0" dirty="0">
                <a:solidFill>
                  <a:srgbClr val="3D3D57"/>
                </a:solidFill>
                <a:latin typeface="Calibri"/>
              </a:rPr>
              <a:t>→ call sites   |   </a:t>
            </a:r>
            <a:r>
              <a:rPr sz="1400" b="0" dirty="0" err="1">
                <a:solidFill>
                  <a:srgbClr val="3D3D57"/>
                </a:solidFill>
                <a:latin typeface="Calibri"/>
              </a:rPr>
              <a:t>adduser</a:t>
            </a:r>
            <a:r>
              <a:rPr sz="1400" b="0" dirty="0">
                <a:solidFill>
                  <a:srgbClr val="3D3D57"/>
                </a:solidFill>
                <a:latin typeface="Calibri"/>
              </a:rPr>
              <a:t>, login, profile, publish, get-identity</a:t>
            </a:r>
          </a:p>
          <a:p>
            <a:pPr marL="0" indent="0">
              <a:spcBef>
                <a:spcPts val="0"/>
              </a:spcBef>
              <a:spcAft>
                <a:spcPts val="200"/>
              </a:spcAft>
              <a:buNone/>
            </a:pPr>
            <a:r>
              <a:rPr sz="1400" b="1" dirty="0">
                <a:solidFill>
                  <a:srgbClr val="14142B"/>
                </a:solidFill>
                <a:latin typeface="Calibri"/>
              </a:rPr>
              <a:t>"where is the reify finish helper defined"</a:t>
            </a:r>
          </a:p>
          <a:p>
            <a:pPr marL="0" indent="0">
              <a:spcBef>
                <a:spcPts val="0"/>
              </a:spcBef>
              <a:spcAft>
                <a:spcPts val="800"/>
              </a:spcAft>
              <a:buNone/>
            </a:pPr>
            <a:r>
              <a:rPr sz="1400" b="0" dirty="0">
                <a:solidFill>
                  <a:srgbClr val="3D3D57"/>
                </a:solidFill>
                <a:latin typeface="Calibri"/>
              </a:rPr>
              <a:t>→ definition of </a:t>
            </a:r>
            <a:r>
              <a:rPr sz="1400" b="0" dirty="0" err="1">
                <a:solidFill>
                  <a:srgbClr val="3D3D57"/>
                </a:solidFill>
                <a:latin typeface="Calibri"/>
              </a:rPr>
              <a:t>reifyFinish</a:t>
            </a:r>
            <a:r>
              <a:rPr sz="1400" b="0" dirty="0">
                <a:solidFill>
                  <a:srgbClr val="3D3D57"/>
                </a:solidFill>
                <a:latin typeface="Calibri"/>
              </a:rPr>
              <a:t>   |   lib/utils/reify-finish.js line 6</a:t>
            </a:r>
          </a:p>
          <a:p>
            <a:pPr marL="0" indent="0">
              <a:spcBef>
                <a:spcPts val="0"/>
              </a:spcBef>
              <a:spcAft>
                <a:spcPts val="200"/>
              </a:spcAft>
              <a:buNone/>
            </a:pPr>
            <a:r>
              <a:rPr sz="1400" b="1" dirty="0">
                <a:solidFill>
                  <a:srgbClr val="14142B"/>
                </a:solidFill>
                <a:latin typeface="Calibri"/>
              </a:rPr>
              <a:t>"which files call </a:t>
            </a:r>
            <a:r>
              <a:rPr sz="1400" b="1" dirty="0" err="1">
                <a:solidFill>
                  <a:srgbClr val="14142B"/>
                </a:solidFill>
                <a:latin typeface="Calibri"/>
              </a:rPr>
              <a:t>validateLockfile</a:t>
            </a:r>
            <a:r>
              <a:rPr sz="1400" b="1" dirty="0">
                <a:solidFill>
                  <a:srgbClr val="14142B"/>
                </a:solidFill>
                <a:latin typeface="Calibri"/>
              </a:rPr>
              <a:t> before </a:t>
            </a:r>
            <a:r>
              <a:rPr sz="1400" b="1" dirty="0" err="1">
                <a:solidFill>
                  <a:srgbClr val="14142B"/>
                </a:solidFill>
                <a:latin typeface="Calibri"/>
              </a:rPr>
              <a:t>reifyFinish</a:t>
            </a:r>
            <a:r>
              <a:rPr sz="1400" b="1" dirty="0">
                <a:solidFill>
                  <a:srgbClr val="14142B"/>
                </a:solidFill>
                <a:latin typeface="Calibri"/>
              </a:rPr>
              <a:t>"</a:t>
            </a:r>
          </a:p>
          <a:p>
            <a:pPr marL="0" indent="0">
              <a:spcBef>
                <a:spcPts val="0"/>
              </a:spcBef>
              <a:spcAft>
                <a:spcPts val="800"/>
              </a:spcAft>
              <a:buNone/>
            </a:pPr>
            <a:r>
              <a:rPr sz="1400" b="0" dirty="0">
                <a:solidFill>
                  <a:srgbClr val="3D3D57"/>
                </a:solidFill>
                <a:latin typeface="Calibri"/>
              </a:rPr>
              <a:t>→ call order   |   one function, </a:t>
            </a:r>
            <a:r>
              <a:rPr sz="1400" b="0" dirty="0" err="1">
                <a:solidFill>
                  <a:srgbClr val="3D3D57"/>
                </a:solidFill>
                <a:latin typeface="Calibri"/>
              </a:rPr>
              <a:t>npm</a:t>
            </a:r>
            <a:r>
              <a:rPr sz="1400" b="0" dirty="0">
                <a:solidFill>
                  <a:srgbClr val="3D3D57"/>
                </a:solidFill>
                <a:latin typeface="Calibri"/>
              </a:rPr>
              <a:t> ci: </a:t>
            </a:r>
            <a:r>
              <a:rPr sz="1400" b="0" dirty="0" err="1">
                <a:solidFill>
                  <a:srgbClr val="3D3D57"/>
                </a:solidFill>
                <a:latin typeface="Calibri"/>
              </a:rPr>
              <a:t>lockfile</a:t>
            </a:r>
            <a:r>
              <a:rPr sz="1400" b="0" dirty="0">
                <a:solidFill>
                  <a:srgbClr val="3D3D57"/>
                </a:solidFill>
                <a:latin typeface="Calibri"/>
              </a:rPr>
              <a:t> line 68, finish line 125</a:t>
            </a:r>
          </a:p>
        </p:txBody>
      </p:sp>
      <p:sp>
        <p:nvSpPr>
          <p:cNvPr id="6" name="TextBox 5"/>
          <p:cNvSpPr txBox="1"/>
          <p:nvPr/>
        </p:nvSpPr>
        <p:spPr>
          <a:xfrm>
            <a:off x="340916" y="5124091"/>
            <a:ext cx="10515600" cy="495007"/>
          </a:xfrm>
          <a:prstGeom prst="rect">
            <a:avLst/>
          </a:prstGeom>
          <a:noFill/>
        </p:spPr>
        <p:txBody>
          <a:bodyPr wrap="square" lIns="0" tIns="0" rIns="0" bIns="0" anchor="t">
            <a:spAutoFit/>
          </a:bodyPr>
          <a:lstStyle/>
          <a:p>
            <a:pPr marL="0" indent="0">
              <a:spcBef>
                <a:spcPts val="0"/>
              </a:spcBef>
              <a:spcAft>
                <a:spcPts val="500"/>
              </a:spcAft>
              <a:buNone/>
            </a:pPr>
            <a:r>
              <a:rPr sz="1400" b="0" dirty="0">
                <a:solidFill>
                  <a:srgbClr val="3D3D57"/>
                </a:solidFill>
                <a:latin typeface="Calibri"/>
              </a:rPr>
              <a:t>"High" confidence label is right 82% of the time, "low" 15%. "Who calls X" is lexical and the tool says so.</a:t>
            </a:r>
          </a:p>
          <a:p>
            <a:r>
              <a:rPr sz="1400" b="1" dirty="0">
                <a:solidFill>
                  <a:srgbClr val="14142B"/>
                </a:solidFill>
                <a:latin typeface="Calibri"/>
              </a:rPr>
              <a:t>Demo video (max 5 min):</a:t>
            </a:r>
            <a:r>
              <a:rPr lang="en-US" sz="1400" b="1" dirty="0">
                <a:solidFill>
                  <a:srgbClr val="14142B"/>
                </a:solidFill>
              </a:rPr>
              <a:t> </a:t>
            </a:r>
            <a:r>
              <a:rPr lang="en-US" sz="1400" b="1" dirty="0">
                <a:solidFill>
                  <a:srgbClr val="14142B"/>
                </a:solidFill>
                <a:hlinkClick r:id="rId3"/>
              </a:rPr>
              <a:t>https://youtu.be/vh2xW-vu988</a:t>
            </a:r>
            <a:endParaRPr sz="1400" b="1" dirty="0">
              <a:solidFill>
                <a:srgbClr val="C0392B"/>
              </a:solidFill>
              <a:latin typeface="Calibri"/>
            </a:endParaRPr>
          </a:p>
        </p:txBody>
      </p:sp>
    </p:spTree>
    <p:extLst>
      <p:ext uri="{BB962C8B-B14F-4D97-AF65-F5344CB8AC3E}">
        <p14:creationId xmlns:p14="http://schemas.microsoft.com/office/powerpoint/2010/main" val="117824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r>
              <a:rPr sz="3200" b="1">
                <a:solidFill>
                  <a:srgbClr val="704EA6"/>
                </a:solidFill>
                <a:latin typeface="+mn-lt"/>
              </a:rPr>
              <a:t>Tools and tech stack used</a:t>
            </a:r>
            <a:endParaRPr lang="en-IN" b="1" dirty="0">
              <a:solidFill>
                <a:srgbClr val="704EA6"/>
              </a:solidFill>
            </a:endParaRPr>
          </a:p>
        </p:txBody>
      </p:sp>
      <p:sp>
        <p:nvSpPr>
          <p:cNvPr id="3" name="TextBox 2"/>
          <p:cNvSpPr txBox="1"/>
          <p:nvPr/>
        </p:nvSpPr>
        <p:spPr>
          <a:xfrm>
            <a:off x="841247" y="1280160"/>
            <a:ext cx="10890677" cy="5224507"/>
          </a:xfrm>
          <a:prstGeom prst="rect">
            <a:avLst/>
          </a:prstGeom>
          <a:noFill/>
        </p:spPr>
        <p:txBody>
          <a:bodyPr wrap="square" lIns="0" tIns="0" rIns="0" bIns="0" anchor="t">
            <a:spAutoFit/>
          </a:bodyPr>
          <a:lstStyle/>
          <a:p>
            <a:pPr marL="0" indent="0">
              <a:spcBef>
                <a:spcPts val="0"/>
              </a:spcBef>
              <a:spcAft>
                <a:spcPts val="300"/>
              </a:spcAft>
              <a:buNone/>
            </a:pPr>
            <a:r>
              <a:rPr sz="1600" b="1" dirty="0">
                <a:solidFill>
                  <a:srgbClr val="14142B"/>
                </a:solidFill>
                <a:latin typeface="Calibri"/>
              </a:rPr>
              <a:t>Encoder</a:t>
            </a:r>
          </a:p>
          <a:p>
            <a:pPr marL="0" indent="0">
              <a:spcBef>
                <a:spcPts val="0"/>
              </a:spcBef>
              <a:spcAft>
                <a:spcPts val="1200"/>
              </a:spcAft>
              <a:buNone/>
            </a:pPr>
            <a:r>
              <a:rPr sz="1600" b="0" dirty="0" err="1">
                <a:solidFill>
                  <a:srgbClr val="3D3D57"/>
                </a:solidFill>
                <a:latin typeface="Calibri"/>
              </a:rPr>
              <a:t>gte</a:t>
            </a:r>
            <a:r>
              <a:rPr sz="1600" b="0" dirty="0">
                <a:solidFill>
                  <a:srgbClr val="3D3D57"/>
                </a:solidFill>
                <a:latin typeface="Calibri"/>
              </a:rPr>
              <a:t>-</a:t>
            </a:r>
            <a:r>
              <a:rPr sz="1600" b="0" dirty="0" err="1">
                <a:solidFill>
                  <a:srgbClr val="3D3D57"/>
                </a:solidFill>
                <a:latin typeface="Calibri"/>
              </a:rPr>
              <a:t>modernbert</a:t>
            </a:r>
            <a:r>
              <a:rPr sz="1600" b="0" dirty="0">
                <a:solidFill>
                  <a:srgbClr val="3D3D57"/>
                </a:solidFill>
                <a:latin typeface="Calibri"/>
              </a:rPr>
              <a:t>-base at a pinned revision, CLS pooling, 1,024 tokens, on CPU. One model for both questions and code.</a:t>
            </a:r>
          </a:p>
          <a:p>
            <a:pPr marL="0" indent="0">
              <a:spcBef>
                <a:spcPts val="0"/>
              </a:spcBef>
              <a:spcAft>
                <a:spcPts val="300"/>
              </a:spcAft>
              <a:buNone/>
            </a:pPr>
            <a:r>
              <a:rPr sz="1600" b="1" dirty="0">
                <a:solidFill>
                  <a:srgbClr val="14142B"/>
                </a:solidFill>
                <a:latin typeface="Calibri"/>
              </a:rPr>
              <a:t>Retrieval</a:t>
            </a:r>
          </a:p>
          <a:p>
            <a:pPr marL="0" indent="0">
              <a:spcBef>
                <a:spcPts val="0"/>
              </a:spcBef>
              <a:spcAft>
                <a:spcPts val="1200"/>
              </a:spcAft>
              <a:buNone/>
            </a:pPr>
            <a:r>
              <a:rPr sz="1600" b="0" dirty="0">
                <a:solidFill>
                  <a:srgbClr val="3D3D57"/>
                </a:solidFill>
                <a:latin typeface="Calibri"/>
              </a:rPr>
              <a:t>Cosine nearest-</a:t>
            </a:r>
            <a:r>
              <a:rPr sz="1600" b="0" dirty="0" err="1">
                <a:solidFill>
                  <a:srgbClr val="3D3D57"/>
                </a:solidFill>
                <a:latin typeface="Calibri"/>
              </a:rPr>
              <a:t>neighbour</a:t>
            </a:r>
            <a:r>
              <a:rPr sz="1600" b="0" dirty="0">
                <a:solidFill>
                  <a:srgbClr val="3D3D57"/>
                </a:solidFill>
                <a:latin typeface="Calibri"/>
              </a:rPr>
              <a:t> search with the hubness correction. No LLM anywhere in the retrieval path.</a:t>
            </a:r>
          </a:p>
          <a:p>
            <a:pPr marL="0" indent="0">
              <a:spcBef>
                <a:spcPts val="0"/>
              </a:spcBef>
              <a:spcAft>
                <a:spcPts val="300"/>
              </a:spcAft>
              <a:buNone/>
            </a:pPr>
            <a:r>
              <a:rPr sz="1600" b="1" dirty="0">
                <a:solidFill>
                  <a:srgbClr val="14142B"/>
                </a:solidFill>
                <a:latin typeface="Calibri"/>
              </a:rPr>
              <a:t>Index</a:t>
            </a:r>
          </a:p>
          <a:p>
            <a:pPr marL="0" indent="0">
              <a:spcBef>
                <a:spcPts val="0"/>
              </a:spcBef>
              <a:spcAft>
                <a:spcPts val="1200"/>
              </a:spcAft>
              <a:buNone/>
            </a:pPr>
            <a:r>
              <a:rPr sz="1600" b="0" dirty="0">
                <a:solidFill>
                  <a:srgbClr val="3D3D57"/>
                </a:solidFill>
                <a:latin typeface="Calibri"/>
              </a:rPr>
              <a:t>SQLite. Vectors keyed by the exact text embedded, so all versions share unchanged vectors.</a:t>
            </a:r>
          </a:p>
          <a:p>
            <a:pPr marL="0" indent="0">
              <a:spcBef>
                <a:spcPts val="0"/>
              </a:spcBef>
              <a:spcAft>
                <a:spcPts val="300"/>
              </a:spcAft>
              <a:buNone/>
            </a:pPr>
            <a:r>
              <a:rPr sz="1600" b="1" dirty="0">
                <a:solidFill>
                  <a:srgbClr val="14142B"/>
                </a:solidFill>
                <a:latin typeface="Calibri"/>
              </a:rPr>
              <a:t>Benchmark harness</a:t>
            </a:r>
          </a:p>
          <a:p>
            <a:pPr marL="0" indent="0">
              <a:spcBef>
                <a:spcPts val="0"/>
              </a:spcBef>
              <a:spcAft>
                <a:spcPts val="0"/>
              </a:spcAft>
              <a:buNone/>
            </a:pPr>
            <a:r>
              <a:rPr sz="1600" b="0" dirty="0">
                <a:solidFill>
                  <a:srgbClr val="3D3D57"/>
                </a:solidFill>
                <a:latin typeface="Calibri"/>
              </a:rPr>
              <a:t>MTEB 2.21.5, sentence-transformers, </a:t>
            </a:r>
            <a:r>
              <a:rPr sz="1600" b="0" dirty="0" err="1">
                <a:solidFill>
                  <a:srgbClr val="3D3D57"/>
                </a:solidFill>
                <a:latin typeface="Calibri"/>
              </a:rPr>
              <a:t>CoIR</a:t>
            </a:r>
            <a:r>
              <a:rPr sz="1600" b="0" dirty="0">
                <a:solidFill>
                  <a:srgbClr val="3D3D57"/>
                </a:solidFill>
                <a:latin typeface="Calibri"/>
              </a:rPr>
              <a:t> </a:t>
            </a:r>
            <a:r>
              <a:rPr sz="1600" b="0" dirty="0" err="1">
                <a:solidFill>
                  <a:srgbClr val="3D3D57"/>
                </a:solidFill>
                <a:latin typeface="Calibri"/>
              </a:rPr>
              <a:t>AppsRetrieval</a:t>
            </a:r>
            <a:r>
              <a:rPr sz="1600" b="0" dirty="0">
                <a:solidFill>
                  <a:srgbClr val="3D3D57"/>
                </a:solidFill>
                <a:latin typeface="Calibri"/>
              </a:rPr>
              <a:t> test split.</a:t>
            </a:r>
            <a:endParaRPr lang="en-US" sz="1600" b="0" dirty="0">
              <a:solidFill>
                <a:srgbClr val="3D3D57"/>
              </a:solidFill>
              <a:latin typeface="Calibri"/>
            </a:endParaRPr>
          </a:p>
          <a:p>
            <a:pPr marL="0" indent="0">
              <a:spcBef>
                <a:spcPts val="0"/>
              </a:spcBef>
              <a:spcAft>
                <a:spcPts val="0"/>
              </a:spcAft>
              <a:buNone/>
            </a:pPr>
            <a:endParaRPr lang="en-IN" sz="1600" dirty="0">
              <a:solidFill>
                <a:srgbClr val="3D3D57"/>
              </a:solidFill>
              <a:latin typeface="Calibri"/>
            </a:endParaRPr>
          </a:p>
          <a:p>
            <a:pPr>
              <a:spcAft>
                <a:spcPts val="300"/>
              </a:spcAft>
            </a:pPr>
            <a:r>
              <a:rPr lang="en-US" sz="1600" b="1" dirty="0">
                <a:solidFill>
                  <a:srgbClr val="14142B"/>
                </a:solidFill>
              </a:rPr>
              <a:t>Tool</a:t>
            </a:r>
          </a:p>
          <a:p>
            <a:pPr>
              <a:spcAft>
                <a:spcPts val="1200"/>
              </a:spcAft>
            </a:pPr>
            <a:r>
              <a:rPr lang="en-US" sz="1600" dirty="0">
                <a:solidFill>
                  <a:srgbClr val="3D3D57"/>
                </a:solidFill>
              </a:rPr>
              <a:t>Python terminal app (cli.py): plain-English router, exact lookups, ranked search, batch rank and eval, git sync. JS and TS functions extracted with a careful regex.</a:t>
            </a:r>
          </a:p>
          <a:p>
            <a:pPr>
              <a:spcAft>
                <a:spcPts val="300"/>
              </a:spcAft>
            </a:pPr>
            <a:r>
              <a:rPr lang="en-US" sz="1600" b="1" dirty="0">
                <a:solidFill>
                  <a:srgbClr val="14142B"/>
                </a:solidFill>
              </a:rPr>
              <a:t>Packaging</a:t>
            </a:r>
          </a:p>
          <a:p>
            <a:pPr>
              <a:spcAft>
                <a:spcPts val="1200"/>
              </a:spcAft>
            </a:pPr>
            <a:r>
              <a:rPr lang="en-US" sz="1600" dirty="0">
                <a:solidFill>
                  <a:srgbClr val="3D3D57"/>
                </a:solidFill>
              </a:rPr>
              <a:t>Python 3.11, 3.12 and 3.14. Docker image is offline and non-root, model and dataset baked in; it fails unless it reproduces 0.6206.</a:t>
            </a:r>
          </a:p>
          <a:p>
            <a:pPr>
              <a:spcAft>
                <a:spcPts val="300"/>
              </a:spcAft>
            </a:pPr>
            <a:r>
              <a:rPr lang="en-US" sz="1600" b="1" dirty="0">
                <a:solidFill>
                  <a:srgbClr val="14142B"/>
                </a:solidFill>
              </a:rPr>
              <a:t>Testing</a:t>
            </a:r>
          </a:p>
          <a:p>
            <a:r>
              <a:rPr lang="en-US" sz="1600" dirty="0">
                <a:solidFill>
                  <a:srgbClr val="3D3D57"/>
                </a:solidFill>
              </a:rPr>
              <a:t>364 tests, also run inside the Docker build.</a:t>
            </a:r>
          </a:p>
          <a:p>
            <a:pPr marL="0" indent="0">
              <a:spcBef>
                <a:spcPts val="0"/>
              </a:spcBef>
              <a:spcAft>
                <a:spcPts val="0"/>
              </a:spcAft>
              <a:buNone/>
            </a:pPr>
            <a:endParaRPr sz="1600" b="0" dirty="0">
              <a:solidFill>
                <a:srgbClr val="3D3D57"/>
              </a:solidFill>
              <a:latin typeface="Calibri"/>
            </a:endParaRPr>
          </a:p>
        </p:txBody>
      </p:sp>
    </p:spTree>
    <p:extLst>
      <p:ext uri="{BB962C8B-B14F-4D97-AF65-F5344CB8AC3E}">
        <p14:creationId xmlns:p14="http://schemas.microsoft.com/office/powerpoint/2010/main" val="3724828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r>
              <a:rPr sz="3200" b="1">
                <a:solidFill>
                  <a:srgbClr val="704EA6"/>
                </a:solidFill>
                <a:latin typeface="+mn-lt"/>
              </a:rPr>
              <a:t>Impact &amp; Use case</a:t>
            </a:r>
            <a:endParaRPr lang="en-IN" b="1" dirty="0">
              <a:solidFill>
                <a:srgbClr val="704EA6"/>
              </a:solidFill>
            </a:endParaRPr>
          </a:p>
        </p:txBody>
      </p:sp>
      <p:sp>
        <p:nvSpPr>
          <p:cNvPr id="3" name="TextBox 2"/>
          <p:cNvSpPr txBox="1"/>
          <p:nvPr/>
        </p:nvSpPr>
        <p:spPr>
          <a:xfrm>
            <a:off x="841248" y="1325880"/>
            <a:ext cx="4480560" cy="5029200"/>
          </a:xfrm>
          <a:prstGeom prst="rect">
            <a:avLst/>
          </a:prstGeom>
          <a:noFill/>
        </p:spPr>
        <p:txBody>
          <a:bodyPr wrap="square" lIns="0" tIns="0" rIns="0" bIns="0" anchor="t">
            <a:spAutoFit/>
          </a:bodyPr>
          <a:lstStyle/>
          <a:p>
            <a:pPr marL="0" indent="0">
              <a:spcBef>
                <a:spcPts val="0"/>
              </a:spcBef>
              <a:spcAft>
                <a:spcPts val="800"/>
              </a:spcAft>
              <a:buNone/>
            </a:pPr>
            <a:r>
              <a:rPr sz="1600" b="1">
                <a:solidFill>
                  <a:srgbClr val="14142B"/>
                </a:solidFill>
                <a:latin typeface="Calibri"/>
              </a:rPr>
              <a:t>Where it helps</a:t>
            </a:r>
          </a:p>
          <a:p>
            <a:pPr marL="0" indent="0">
              <a:spcBef>
                <a:spcPts val="0"/>
              </a:spcBef>
              <a:spcAft>
                <a:spcPts val="300"/>
              </a:spcAft>
              <a:buNone/>
            </a:pPr>
            <a:r>
              <a:rPr sz="1400" b="1">
                <a:solidFill>
                  <a:srgbClr val="14142B"/>
                </a:solidFill>
                <a:latin typeface="Calibri"/>
              </a:rPr>
              <a:t>Coding agents</a:t>
            </a:r>
          </a:p>
          <a:p>
            <a:pPr marL="0" indent="0">
              <a:spcBef>
                <a:spcPts val="0"/>
              </a:spcBef>
              <a:spcAft>
                <a:spcPts val="1000"/>
              </a:spcAft>
              <a:buNone/>
            </a:pPr>
            <a:r>
              <a:rPr sz="1300" b="0">
                <a:solidFill>
                  <a:srgbClr val="3D3D57"/>
                </a:solidFill>
                <a:latin typeface="Calibri"/>
              </a:rPr>
              <a:t>Finding the right file is the first step of every bug fix. That step gets slower as the repository grows.</a:t>
            </a:r>
          </a:p>
          <a:p>
            <a:pPr marL="0" indent="0">
              <a:spcBef>
                <a:spcPts val="0"/>
              </a:spcBef>
              <a:spcAft>
                <a:spcPts val="300"/>
              </a:spcAft>
              <a:buNone/>
            </a:pPr>
            <a:r>
              <a:rPr sz="1400" b="1">
                <a:solidFill>
                  <a:srgbClr val="14142B"/>
                </a:solidFill>
                <a:latin typeface="Calibri"/>
              </a:rPr>
              <a:t>New developers</a:t>
            </a:r>
          </a:p>
          <a:p>
            <a:pPr marL="0" indent="0">
              <a:spcBef>
                <a:spcPts val="0"/>
              </a:spcBef>
              <a:spcAft>
                <a:spcPts val="1000"/>
              </a:spcAft>
              <a:buNone/>
            </a:pPr>
            <a:r>
              <a:rPr sz="1300" b="0">
                <a:solidFill>
                  <a:srgbClr val="3D3D57"/>
                </a:solidFill>
                <a:latin typeface="Calibri"/>
              </a:rPr>
              <a:t>A plain-English question returns snippets with file and line, and the tool shows how it understood the question.</a:t>
            </a:r>
          </a:p>
          <a:p>
            <a:pPr marL="0" indent="0">
              <a:spcBef>
                <a:spcPts val="0"/>
              </a:spcBef>
              <a:spcAft>
                <a:spcPts val="300"/>
              </a:spcAft>
              <a:buNone/>
            </a:pPr>
            <a:r>
              <a:rPr sz="1400" b="1">
                <a:solidFill>
                  <a:srgbClr val="14142B"/>
                </a:solidFill>
                <a:latin typeface="Calibri"/>
              </a:rPr>
              <a:t>Codebases that change every commit</a:t>
            </a:r>
          </a:p>
          <a:p>
            <a:pPr marL="0" indent="0">
              <a:spcBef>
                <a:spcPts val="0"/>
              </a:spcBef>
              <a:spcAft>
                <a:spcPts val="0"/>
              </a:spcAft>
              <a:buNone/>
            </a:pPr>
            <a:r>
              <a:rPr sz="1300" b="0">
                <a:solidFill>
                  <a:srgbClr val="3D3D57"/>
                </a:solidFill>
                <a:latin typeface="Calibri"/>
              </a:rPr>
              <a:t>Only changed code is re-embedded. Results across versions collapse into one row per function.</a:t>
            </a:r>
          </a:p>
        </p:txBody>
      </p:sp>
      <p:sp>
        <p:nvSpPr>
          <p:cNvPr id="4" name="TextBox 3"/>
          <p:cNvSpPr txBox="1"/>
          <p:nvPr/>
        </p:nvSpPr>
        <p:spPr>
          <a:xfrm>
            <a:off x="5669280" y="1325880"/>
            <a:ext cx="5669280" cy="5029200"/>
          </a:xfrm>
          <a:prstGeom prst="rect">
            <a:avLst/>
          </a:prstGeom>
          <a:noFill/>
        </p:spPr>
        <p:txBody>
          <a:bodyPr wrap="square" lIns="0" tIns="0" rIns="0" bIns="0" anchor="t">
            <a:spAutoFit/>
          </a:bodyPr>
          <a:lstStyle/>
          <a:p>
            <a:pPr marL="0" indent="0">
              <a:spcBef>
                <a:spcPts val="0"/>
              </a:spcBef>
              <a:spcAft>
                <a:spcPts val="800"/>
              </a:spcAft>
              <a:buNone/>
            </a:pPr>
            <a:r>
              <a:rPr sz="1600" b="1">
                <a:solidFill>
                  <a:srgbClr val="14142B"/>
                </a:solidFill>
                <a:latin typeface="Calibri"/>
              </a:rPr>
              <a:t>Generalisation — held-out tasks, nothing tuned</a:t>
            </a:r>
          </a:p>
          <a:p>
            <a:pPr marL="0" indent="0">
              <a:spcBef>
                <a:spcPts val="0"/>
              </a:spcBef>
              <a:spcAft>
                <a:spcPts val="200"/>
              </a:spcAft>
              <a:buNone/>
            </a:pPr>
            <a:r>
              <a:rPr sz="1300" b="1">
                <a:solidFill>
                  <a:srgbClr val="14142B"/>
                </a:solidFill>
                <a:latin typeface="Calibri"/>
              </a:rPr>
              <a:t>StackOverflowQA</a:t>
            </a:r>
          </a:p>
          <a:p>
            <a:pPr marL="0" indent="0">
              <a:spcBef>
                <a:spcPts val="0"/>
              </a:spcBef>
              <a:spcAft>
                <a:spcPts val="700"/>
              </a:spcAft>
              <a:buNone/>
            </a:pPr>
            <a:r>
              <a:rPr sz="1300" b="0">
                <a:solidFill>
                  <a:srgbClr val="3D3D57"/>
                </a:solidFill>
                <a:latin typeface="Calibri"/>
              </a:rPr>
              <a:t>91.21   (model card: 91.2)</a:t>
            </a:r>
          </a:p>
          <a:p>
            <a:pPr marL="0" indent="0">
              <a:spcBef>
                <a:spcPts val="0"/>
              </a:spcBef>
              <a:spcAft>
                <a:spcPts val="200"/>
              </a:spcAft>
              <a:buNone/>
            </a:pPr>
            <a:r>
              <a:rPr sz="1300" b="1">
                <a:solidFill>
                  <a:srgbClr val="14142B"/>
                </a:solidFill>
                <a:latin typeface="Calibri"/>
              </a:rPr>
              <a:t>CosQA</a:t>
            </a:r>
          </a:p>
          <a:p>
            <a:pPr marL="0" indent="0">
              <a:spcBef>
                <a:spcPts val="0"/>
              </a:spcBef>
              <a:spcAft>
                <a:spcPts val="700"/>
              </a:spcAft>
              <a:buNone/>
            </a:pPr>
            <a:r>
              <a:rPr sz="1300" b="0">
                <a:solidFill>
                  <a:srgbClr val="3D3D57"/>
                </a:solidFill>
                <a:latin typeface="Calibri"/>
              </a:rPr>
              <a:t>43.06   (model card: 43.47)</a:t>
            </a:r>
          </a:p>
          <a:p>
            <a:pPr marL="0" indent="0">
              <a:spcBef>
                <a:spcPts val="0"/>
              </a:spcBef>
              <a:spcAft>
                <a:spcPts val="200"/>
              </a:spcAft>
              <a:buNone/>
            </a:pPr>
            <a:r>
              <a:rPr sz="1300" b="1">
                <a:solidFill>
                  <a:srgbClr val="14142B"/>
                </a:solidFill>
                <a:latin typeface="Calibri"/>
              </a:rPr>
              <a:t>WikiSQL</a:t>
            </a:r>
          </a:p>
          <a:p>
            <a:pPr marL="0" indent="0">
              <a:spcBef>
                <a:spcPts val="0"/>
              </a:spcBef>
              <a:spcAft>
                <a:spcPts val="700"/>
              </a:spcAft>
              <a:buNone/>
            </a:pPr>
            <a:r>
              <a:rPr sz="1300" b="0">
                <a:solidFill>
                  <a:srgbClr val="3D3D57"/>
                </a:solidFill>
                <a:latin typeface="Calibri"/>
              </a:rPr>
              <a:t>94.70</a:t>
            </a:r>
          </a:p>
          <a:p>
            <a:pPr marL="0" indent="0">
              <a:spcBef>
                <a:spcPts val="0"/>
              </a:spcBef>
              <a:spcAft>
                <a:spcPts val="200"/>
              </a:spcAft>
              <a:buNone/>
            </a:pPr>
            <a:r>
              <a:rPr sz="1300" b="1">
                <a:solidFill>
                  <a:srgbClr val="14142B"/>
                </a:solidFill>
                <a:latin typeface="Calibri"/>
              </a:rPr>
              <a:t>HumanEval / MBPP</a:t>
            </a:r>
          </a:p>
          <a:p>
            <a:pPr marL="0" indent="0">
              <a:spcBef>
                <a:spcPts val="0"/>
              </a:spcBef>
              <a:spcAft>
                <a:spcPts val="700"/>
              </a:spcAft>
              <a:buNone/>
            </a:pPr>
            <a:r>
              <a:rPr sz="1300" b="0">
                <a:solidFill>
                  <a:srgbClr val="3D3D57"/>
                </a:solidFill>
                <a:latin typeface="Calibri"/>
              </a:rPr>
              <a:t>84.48 / 80.73</a:t>
            </a:r>
          </a:p>
          <a:p>
            <a:pPr marL="0" indent="0">
              <a:spcBef>
                <a:spcPts val="0"/>
              </a:spcBef>
              <a:spcAft>
                <a:spcPts val="200"/>
              </a:spcAft>
              <a:buNone/>
            </a:pPr>
            <a:r>
              <a:rPr sz="1300" b="1">
                <a:solidFill>
                  <a:srgbClr val="14142B"/>
                </a:solidFill>
                <a:latin typeface="Calibri"/>
              </a:rPr>
              <a:t>CodeSearchNet JavaScript</a:t>
            </a:r>
          </a:p>
          <a:p>
            <a:pPr marL="0" indent="0">
              <a:spcBef>
                <a:spcPts val="0"/>
              </a:spcBef>
              <a:spcAft>
                <a:spcPts val="700"/>
              </a:spcAft>
              <a:buNone/>
            </a:pPr>
            <a:r>
              <a:rPr sz="1300" b="0">
                <a:solidFill>
                  <a:srgbClr val="3D3D57"/>
                </a:solidFill>
                <a:latin typeface="Calibri"/>
              </a:rPr>
              <a:t>80.84</a:t>
            </a:r>
          </a:p>
          <a:p>
            <a:pPr marL="0" indent="0">
              <a:spcBef>
                <a:spcPts val="0"/>
              </a:spcBef>
              <a:spcAft>
                <a:spcPts val="200"/>
              </a:spcAft>
              <a:buNone/>
            </a:pPr>
            <a:r>
              <a:rPr sz="1300" b="1">
                <a:solidFill>
                  <a:srgbClr val="14142B"/>
                </a:solidFill>
                <a:latin typeface="Calibri"/>
              </a:rPr>
              <a:t>CodeSearchNet Py / Go / Ruby / Java / PHP</a:t>
            </a:r>
          </a:p>
          <a:p>
            <a:pPr marL="0" indent="0">
              <a:spcBef>
                <a:spcPts val="0"/>
              </a:spcBef>
              <a:spcAft>
                <a:spcPts val="700"/>
              </a:spcAft>
              <a:buNone/>
            </a:pPr>
            <a:r>
              <a:rPr sz="1300" b="0">
                <a:solidFill>
                  <a:srgbClr val="3D3D57"/>
                </a:solidFill>
                <a:latin typeface="Calibri"/>
              </a:rPr>
              <a:t>90.26 / 95.89 / 85.19 / 91.59 / 88.87</a:t>
            </a:r>
          </a:p>
          <a:p>
            <a:pPr marL="0" indent="0">
              <a:spcBef>
                <a:spcPts val="0"/>
              </a:spcBef>
              <a:spcAft>
                <a:spcPts val="200"/>
              </a:spcAft>
              <a:buNone/>
            </a:pPr>
            <a:r>
              <a:rPr sz="1300" b="1">
                <a:solidFill>
                  <a:srgbClr val="14142B"/>
                </a:solidFill>
                <a:latin typeface="Calibri"/>
              </a:rPr>
              <a:t>npm, 127 questions of our own</a:t>
            </a:r>
          </a:p>
          <a:p>
            <a:pPr marL="0" indent="0">
              <a:spcBef>
                <a:spcPts val="0"/>
              </a:spcBef>
              <a:spcAft>
                <a:spcPts val="700"/>
              </a:spcAft>
              <a:buNone/>
            </a:pPr>
            <a:r>
              <a:rPr sz="1300" b="0">
                <a:solidFill>
                  <a:srgbClr val="3D3D57"/>
                </a:solidFill>
                <a:latin typeface="Calibri"/>
              </a:rPr>
              <a:t>NDCG@10 0.5975</a:t>
            </a:r>
          </a:p>
          <a:p>
            <a:pPr marL="0" indent="0">
              <a:spcBef>
                <a:spcPts val="0"/>
              </a:spcBef>
              <a:spcAft>
                <a:spcPts val="0"/>
              </a:spcAft>
              <a:buNone/>
            </a:pPr>
            <a:r>
              <a:rPr sz="1300" b="0">
                <a:solidFill>
                  <a:srgbClr val="6B6B85"/>
                </a:solidFill>
                <a:latin typeface="Calibri"/>
              </a:rPr>
              <a:t>DS1000 and FreshStack are the weak spots — explained on the limitations slide.</a:t>
            </a:r>
          </a:p>
        </p:txBody>
      </p:sp>
    </p:spTree>
    <p:extLst>
      <p:ext uri="{BB962C8B-B14F-4D97-AF65-F5344CB8AC3E}">
        <p14:creationId xmlns:p14="http://schemas.microsoft.com/office/powerpoint/2010/main" val="3668119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pPr>
              <a:spcAft>
                <a:spcPts val="500"/>
              </a:spcAft>
              <a:buSzPct val="100000"/>
            </a:pPr>
            <a:r>
              <a:rPr sz="3200" b="1">
                <a:solidFill>
                  <a:srgbClr val="704EA6"/>
                </a:solidFill>
                <a:latin typeface="+mn-lt"/>
              </a:rPr>
              <a:t>Innovation highlights, results and limitations</a:t>
            </a:r>
            <a:endParaRPr lang="en-US" sz="4400" b="1" dirty="0">
              <a:solidFill>
                <a:srgbClr val="704EA6"/>
              </a:solidFill>
            </a:endParaRPr>
          </a:p>
        </p:txBody>
      </p:sp>
      <p:sp>
        <p:nvSpPr>
          <p:cNvPr id="3" name="TextBox 2"/>
          <p:cNvSpPr txBox="1"/>
          <p:nvPr/>
        </p:nvSpPr>
        <p:spPr>
          <a:xfrm>
            <a:off x="841248" y="1280160"/>
            <a:ext cx="4114800" cy="3947234"/>
          </a:xfrm>
          <a:prstGeom prst="rect">
            <a:avLst/>
          </a:prstGeom>
          <a:noFill/>
        </p:spPr>
        <p:txBody>
          <a:bodyPr wrap="square" lIns="0" tIns="0" rIns="0" bIns="0" anchor="t">
            <a:spAutoFit/>
          </a:bodyPr>
          <a:lstStyle/>
          <a:p>
            <a:pPr marL="0" indent="0">
              <a:spcBef>
                <a:spcPts val="0"/>
              </a:spcBef>
              <a:spcAft>
                <a:spcPts val="1000"/>
              </a:spcAft>
              <a:buNone/>
            </a:pPr>
            <a:r>
              <a:rPr sz="1600" b="1" dirty="0">
                <a:solidFill>
                  <a:srgbClr val="14142B"/>
                </a:solidFill>
                <a:latin typeface="Calibri"/>
              </a:rPr>
              <a:t>What we built that is new</a:t>
            </a:r>
          </a:p>
          <a:p>
            <a:pPr marL="0" indent="0">
              <a:spcBef>
                <a:spcPts val="0"/>
              </a:spcBef>
              <a:spcAft>
                <a:spcPts val="300"/>
              </a:spcAft>
              <a:buNone/>
            </a:pPr>
            <a:r>
              <a:rPr sz="1600" b="1" dirty="0">
                <a:solidFill>
                  <a:srgbClr val="14142B"/>
                </a:solidFill>
                <a:latin typeface="Calibri"/>
              </a:rPr>
              <a:t>Hubness correction</a:t>
            </a:r>
          </a:p>
          <a:p>
            <a:pPr marL="0" indent="0">
              <a:spcBef>
                <a:spcPts val="0"/>
              </a:spcBef>
              <a:spcAft>
                <a:spcPts val="1000"/>
              </a:spcAft>
              <a:buNone/>
            </a:pPr>
            <a:r>
              <a:rPr sz="1600" b="0" dirty="0">
                <a:solidFill>
                  <a:srgbClr val="3D3D57"/>
                </a:solidFill>
                <a:latin typeface="Calibri"/>
              </a:rPr>
              <a:t>19.3% of wrong answers came from snippets close to everything. We score each document against its 20 nearest training questions and subtract 0.75× that score at query time. Implemented as one extra vector dimension, so it is exact inside MTEB.</a:t>
            </a:r>
          </a:p>
          <a:p>
            <a:pPr marL="0" indent="0">
              <a:spcBef>
                <a:spcPts val="0"/>
              </a:spcBef>
              <a:spcAft>
                <a:spcPts val="300"/>
              </a:spcAft>
              <a:buNone/>
            </a:pPr>
            <a:r>
              <a:rPr sz="1600" b="1" dirty="0">
                <a:solidFill>
                  <a:srgbClr val="14142B"/>
                </a:solidFill>
                <a:latin typeface="Calibri"/>
              </a:rPr>
              <a:t>Text-keyed version index</a:t>
            </a:r>
          </a:p>
          <a:p>
            <a:pPr marL="0" indent="0">
              <a:spcBef>
                <a:spcPts val="0"/>
              </a:spcBef>
              <a:spcAft>
                <a:spcPts val="1000"/>
              </a:spcAft>
              <a:buNone/>
            </a:pPr>
            <a:r>
              <a:rPr sz="1600" b="0" dirty="0">
                <a:solidFill>
                  <a:srgbClr val="3D3D57"/>
                </a:solidFill>
                <a:latin typeface="Calibri"/>
              </a:rPr>
              <a:t>Unchanged functions are never re-encoded. Cold build: 1,271 s. Each new release: 28–104 s.</a:t>
            </a:r>
          </a:p>
          <a:p>
            <a:pPr marL="0" indent="0">
              <a:spcBef>
                <a:spcPts val="0"/>
              </a:spcBef>
              <a:spcAft>
                <a:spcPts val="300"/>
              </a:spcAft>
              <a:buNone/>
            </a:pPr>
            <a:r>
              <a:rPr sz="1600" b="1" dirty="0">
                <a:solidFill>
                  <a:srgbClr val="14142B"/>
                </a:solidFill>
                <a:latin typeface="Calibri"/>
              </a:rPr>
              <a:t>Version collapse</a:t>
            </a:r>
          </a:p>
          <a:p>
            <a:pPr marL="0" indent="0">
              <a:spcBef>
                <a:spcPts val="0"/>
              </a:spcBef>
              <a:spcAft>
                <a:spcPts val="0"/>
              </a:spcAft>
              <a:buNone/>
            </a:pPr>
            <a:r>
              <a:rPr sz="1600" b="0" dirty="0">
                <a:solidFill>
                  <a:srgbClr val="3D3D57"/>
                </a:solidFill>
                <a:latin typeface="Calibri"/>
              </a:rPr>
              <a:t>One result row per function across all versions, labelled by which versions it appears in.</a:t>
            </a:r>
          </a:p>
        </p:txBody>
      </p:sp>
      <p:sp>
        <p:nvSpPr>
          <p:cNvPr id="4" name="TextBox 3"/>
          <p:cNvSpPr txBox="1"/>
          <p:nvPr/>
        </p:nvSpPr>
        <p:spPr>
          <a:xfrm>
            <a:off x="5257800" y="1280160"/>
            <a:ext cx="6126480" cy="1092607"/>
          </a:xfrm>
          <a:prstGeom prst="rect">
            <a:avLst/>
          </a:prstGeom>
          <a:noFill/>
        </p:spPr>
        <p:txBody>
          <a:bodyPr wrap="square" lIns="0" tIns="0" rIns="0" bIns="0" anchor="t">
            <a:spAutoFit/>
          </a:bodyPr>
          <a:lstStyle/>
          <a:p>
            <a:pPr marL="0" indent="0">
              <a:spcBef>
                <a:spcPts val="0"/>
              </a:spcBef>
              <a:spcAft>
                <a:spcPts val="800"/>
              </a:spcAft>
              <a:buNone/>
            </a:pPr>
            <a:r>
              <a:rPr sz="1400" b="1" dirty="0">
                <a:solidFill>
                  <a:srgbClr val="14142B"/>
                </a:solidFill>
                <a:latin typeface="Calibri"/>
              </a:rPr>
              <a:t>Results</a:t>
            </a:r>
          </a:p>
          <a:p>
            <a:pPr marL="0" indent="0">
              <a:spcBef>
                <a:spcPts val="0"/>
              </a:spcBef>
              <a:spcAft>
                <a:spcPts val="500"/>
              </a:spcAft>
              <a:buNone/>
            </a:pPr>
            <a:r>
              <a:rPr sz="1400" b="0" dirty="0">
                <a:solidFill>
                  <a:srgbClr val="3D3D57"/>
                </a:solidFill>
                <a:latin typeface="Calibri"/>
              </a:rPr>
              <a:t>Screening — NDCG@10 0.60952 · MRR@10 0.56320 · R@100 0.92457</a:t>
            </a:r>
          </a:p>
          <a:p>
            <a:pPr marL="0" indent="0">
              <a:spcBef>
                <a:spcPts val="0"/>
              </a:spcBef>
              <a:spcAft>
                <a:spcPts val="500"/>
              </a:spcAft>
              <a:buNone/>
            </a:pPr>
            <a:r>
              <a:rPr sz="1400" b="0" dirty="0">
                <a:solidFill>
                  <a:srgbClr val="3D3D57"/>
                </a:solidFill>
                <a:latin typeface="Calibri"/>
              </a:rPr>
              <a:t>5.6× over the first artifact (0.10982). +0.033 over the same model loaded correctly.</a:t>
            </a:r>
          </a:p>
          <a:p>
            <a:pPr marL="0" indent="0">
              <a:spcBef>
                <a:spcPts val="0"/>
              </a:spcBef>
              <a:spcAft>
                <a:spcPts val="0"/>
              </a:spcAft>
              <a:buNone/>
            </a:pPr>
            <a:r>
              <a:rPr sz="1400" b="0" dirty="0">
                <a:solidFill>
                  <a:srgbClr val="3D3D57"/>
                </a:solidFill>
                <a:latin typeface="Calibri"/>
              </a:rPr>
              <a:t>Right answer at #1 for 36.6% of questions, in the top 10 for 65.9%.</a:t>
            </a:r>
          </a:p>
        </p:txBody>
      </p:sp>
      <p:sp>
        <p:nvSpPr>
          <p:cNvPr id="5" name="TextBox 4"/>
          <p:cNvSpPr txBox="1"/>
          <p:nvPr/>
        </p:nvSpPr>
        <p:spPr>
          <a:xfrm>
            <a:off x="5257800" y="3749039"/>
            <a:ext cx="6126480" cy="1308050"/>
          </a:xfrm>
          <a:prstGeom prst="rect">
            <a:avLst/>
          </a:prstGeom>
          <a:noFill/>
        </p:spPr>
        <p:txBody>
          <a:bodyPr wrap="square" lIns="0" tIns="0" rIns="0" bIns="0" anchor="t">
            <a:spAutoFit/>
          </a:bodyPr>
          <a:lstStyle/>
          <a:p>
            <a:pPr marL="0" indent="0">
              <a:spcBef>
                <a:spcPts val="0"/>
              </a:spcBef>
              <a:spcAft>
                <a:spcPts val="800"/>
              </a:spcAft>
              <a:buNone/>
            </a:pPr>
            <a:r>
              <a:rPr sz="1400" b="1" dirty="0">
                <a:solidFill>
                  <a:srgbClr val="14142B"/>
                </a:solidFill>
                <a:latin typeface="Calibri"/>
              </a:rPr>
              <a:t>Limitations — we say these out loud</a:t>
            </a:r>
          </a:p>
          <a:p>
            <a:pPr marL="0" indent="0">
              <a:spcBef>
                <a:spcPts val="0"/>
              </a:spcBef>
              <a:spcAft>
                <a:spcPts val="500"/>
              </a:spcAft>
              <a:buNone/>
            </a:pPr>
            <a:r>
              <a:rPr sz="1400" b="0" dirty="0">
                <a:solidFill>
                  <a:srgbClr val="3D3D57"/>
                </a:solidFill>
                <a:latin typeface="Calibri"/>
              </a:rPr>
              <a:t>The guidelines' own three-snippet example ranks in reverse (within 0.018). Four-line placeholder code with no indentation. Tool flags it low confidence.</a:t>
            </a:r>
          </a:p>
          <a:p>
            <a:pPr marL="0" indent="0">
              <a:spcBef>
                <a:spcPts val="0"/>
              </a:spcBef>
              <a:spcAft>
                <a:spcPts val="500"/>
              </a:spcAft>
              <a:buNone/>
            </a:pPr>
            <a:r>
              <a:rPr sz="1400" b="0" dirty="0">
                <a:solidFill>
                  <a:srgbClr val="3D3D57"/>
                </a:solidFill>
                <a:latin typeface="Calibri"/>
              </a:rPr>
              <a:t>Hub table fitted to </a:t>
            </a:r>
            <a:r>
              <a:rPr sz="1400" b="0" dirty="0" err="1">
                <a:solidFill>
                  <a:srgbClr val="3D3D57"/>
                </a:solidFill>
                <a:latin typeface="Calibri"/>
              </a:rPr>
              <a:t>AppsRetrieval</a:t>
            </a:r>
            <a:r>
              <a:rPr sz="1400" b="0" dirty="0">
                <a:solidFill>
                  <a:srgbClr val="3D3D57"/>
                </a:solidFill>
                <a:latin typeface="Calibri"/>
              </a:rPr>
              <a:t> training questions. Passes three leakage checks.</a:t>
            </a:r>
          </a:p>
          <a:p>
            <a:pPr marL="0" indent="0">
              <a:spcBef>
                <a:spcPts val="0"/>
              </a:spcBef>
              <a:spcAft>
                <a:spcPts val="0"/>
              </a:spcAft>
              <a:buNone/>
            </a:pPr>
            <a:r>
              <a:rPr sz="1400" b="0" dirty="0">
                <a:solidFill>
                  <a:srgbClr val="3D3D57"/>
                </a:solidFill>
                <a:latin typeface="Calibri"/>
              </a:rPr>
              <a:t>"Who calls X" is a lexical lookup, not a call graph. JS is our weakest language (80.84).</a:t>
            </a:r>
          </a:p>
        </p:txBody>
      </p:sp>
    </p:spTree>
    <p:extLst>
      <p:ext uri="{BB962C8B-B14F-4D97-AF65-F5344CB8AC3E}">
        <p14:creationId xmlns:p14="http://schemas.microsoft.com/office/powerpoint/2010/main" val="1993237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pPr>
              <a:spcAft>
                <a:spcPts val="500"/>
              </a:spcAft>
              <a:buSzPct val="100000"/>
            </a:pPr>
            <a:r>
              <a:rPr sz="3200" b="1">
                <a:solidFill>
                  <a:srgbClr val="704EA6"/>
                </a:solidFill>
                <a:latin typeface="+mn-lt"/>
              </a:rPr>
              <a:t>What’s next</a:t>
            </a:r>
            <a:endParaRPr lang="en-US" sz="4400" b="1" dirty="0">
              <a:solidFill>
                <a:srgbClr val="704EA6"/>
              </a:solidFill>
            </a:endParaRPr>
          </a:p>
        </p:txBody>
      </p:sp>
      <p:sp>
        <p:nvSpPr>
          <p:cNvPr id="3" name="TextBox 2"/>
          <p:cNvSpPr txBox="1"/>
          <p:nvPr/>
        </p:nvSpPr>
        <p:spPr>
          <a:xfrm>
            <a:off x="841248" y="1280160"/>
            <a:ext cx="10515600" cy="2818720"/>
          </a:xfrm>
          <a:prstGeom prst="rect">
            <a:avLst/>
          </a:prstGeom>
          <a:noFill/>
        </p:spPr>
        <p:txBody>
          <a:bodyPr wrap="square" lIns="0" tIns="0" rIns="0" bIns="0" anchor="t">
            <a:spAutoFit/>
          </a:bodyPr>
          <a:lstStyle/>
          <a:p>
            <a:pPr marL="0" indent="0">
              <a:spcBef>
                <a:spcPts val="0"/>
              </a:spcBef>
              <a:spcAft>
                <a:spcPts val="500"/>
              </a:spcAft>
              <a:buNone/>
            </a:pPr>
            <a:r>
              <a:rPr sz="1600" b="1" dirty="0">
                <a:solidFill>
                  <a:srgbClr val="14142B"/>
                </a:solidFill>
                <a:latin typeface="Calibri"/>
              </a:rPr>
              <a:t>1.  A </a:t>
            </a:r>
            <a:r>
              <a:rPr sz="1600" b="1" dirty="0" err="1">
                <a:solidFill>
                  <a:srgbClr val="14142B"/>
                </a:solidFill>
                <a:latin typeface="Calibri"/>
              </a:rPr>
              <a:t>reranker</a:t>
            </a:r>
            <a:r>
              <a:rPr sz="1600" b="1" dirty="0">
                <a:solidFill>
                  <a:srgbClr val="14142B"/>
                </a:solidFill>
                <a:latin typeface="Calibri"/>
              </a:rPr>
              <a:t> built for near-duplicate snippets</a:t>
            </a:r>
          </a:p>
          <a:p>
            <a:pPr marL="0" indent="0">
              <a:spcBef>
                <a:spcPts val="0"/>
              </a:spcBef>
              <a:spcAft>
                <a:spcPts val="1600"/>
              </a:spcAft>
              <a:buNone/>
            </a:pPr>
            <a:r>
              <a:rPr sz="1600" b="0" dirty="0">
                <a:solidFill>
                  <a:srgbClr val="3D3D57"/>
                </a:solidFill>
                <a:latin typeface="Calibri"/>
              </a:rPr>
              <a:t>DS1000 shows the failure: the right snippet is in the top 100 for 97.2% of questions but not ranked first. The generic cross-attention </a:t>
            </a:r>
            <a:r>
              <a:rPr sz="1600" b="0" dirty="0" err="1">
                <a:solidFill>
                  <a:srgbClr val="3D3D57"/>
                </a:solidFill>
                <a:latin typeface="Calibri"/>
              </a:rPr>
              <a:t>reranker</a:t>
            </a:r>
            <a:r>
              <a:rPr sz="1600" b="0" dirty="0">
                <a:solidFill>
                  <a:srgbClr val="3D3D57"/>
                </a:solidFill>
                <a:latin typeface="Calibri"/>
              </a:rPr>
              <a:t> we tried cost −0.012. This needs a model trained specifically for near-identical code.</a:t>
            </a:r>
          </a:p>
          <a:p>
            <a:pPr marL="0" indent="0">
              <a:spcBef>
                <a:spcPts val="0"/>
              </a:spcBef>
              <a:spcAft>
                <a:spcPts val="500"/>
              </a:spcAft>
              <a:buNone/>
            </a:pPr>
            <a:r>
              <a:rPr sz="1600" b="1" dirty="0">
                <a:solidFill>
                  <a:srgbClr val="14142B"/>
                </a:solidFill>
                <a:latin typeface="Calibri"/>
              </a:rPr>
              <a:t>2.  A real call graph</a:t>
            </a:r>
          </a:p>
          <a:p>
            <a:pPr marL="0" indent="0">
              <a:spcBef>
                <a:spcPts val="0"/>
              </a:spcBef>
              <a:spcAft>
                <a:spcPts val="1600"/>
              </a:spcAft>
              <a:buNone/>
            </a:pPr>
            <a:r>
              <a:rPr sz="1600" b="0" dirty="0">
                <a:solidFill>
                  <a:srgbClr val="3D3D57"/>
                </a:solidFill>
                <a:latin typeface="Calibri"/>
              </a:rPr>
              <a:t>"Who calls X" is a lexical lookup today. It finds usages by name. A parsed AST call graph would make caller and call-order answers structurally exact rather than text-matched.</a:t>
            </a:r>
          </a:p>
          <a:p>
            <a:pPr marL="0" indent="0">
              <a:spcBef>
                <a:spcPts val="0"/>
              </a:spcBef>
              <a:spcAft>
                <a:spcPts val="500"/>
              </a:spcAft>
              <a:buNone/>
            </a:pPr>
            <a:r>
              <a:rPr sz="1600" b="1" dirty="0">
                <a:solidFill>
                  <a:srgbClr val="14142B"/>
                </a:solidFill>
                <a:latin typeface="Calibri"/>
              </a:rPr>
              <a:t>3.  Fine-tuning on code with renamed identifiers</a:t>
            </a:r>
          </a:p>
          <a:p>
            <a:pPr marL="0" indent="0">
              <a:spcBef>
                <a:spcPts val="0"/>
              </a:spcBef>
              <a:spcAft>
                <a:spcPts val="0"/>
              </a:spcAft>
              <a:buNone/>
            </a:pPr>
            <a:r>
              <a:rPr sz="1600" b="0" dirty="0">
                <a:solidFill>
                  <a:srgbClr val="3D3D57"/>
                </a:solidFill>
                <a:latin typeface="Calibri"/>
              </a:rPr>
              <a:t>Renaming identifiers costs every model we tested 55–72% of its score, meaning the task leans heavily on function names. Training on renamed code would reduce that reliance.</a:t>
            </a:r>
          </a:p>
        </p:txBody>
      </p:sp>
    </p:spTree>
    <p:extLst>
      <p:ext uri="{BB962C8B-B14F-4D97-AF65-F5344CB8AC3E}">
        <p14:creationId xmlns:p14="http://schemas.microsoft.com/office/powerpoint/2010/main" val="3985914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1248" y="320040"/>
            <a:ext cx="10515600" cy="822960"/>
          </a:xfrm>
        </p:spPr>
        <p:txBody>
          <a:bodyPr/>
          <a:lstStyle/>
          <a:p>
            <a:pPr>
              <a:spcAft>
                <a:spcPts val="500"/>
              </a:spcAft>
              <a:buSzPct val="100000"/>
            </a:pPr>
            <a:r>
              <a:rPr sz="3200" b="1">
                <a:solidFill>
                  <a:srgbClr val="704EA6"/>
                </a:solidFill>
                <a:latin typeface="+mn-lt"/>
              </a:rPr>
              <a:t>Brownie points (differentiation)</a:t>
            </a:r>
            <a:endParaRPr lang="en-US" sz="4400" b="1" dirty="0">
              <a:solidFill>
                <a:srgbClr val="704EA6"/>
              </a:solidFill>
            </a:endParaRPr>
          </a:p>
        </p:txBody>
      </p:sp>
      <p:sp>
        <p:nvSpPr>
          <p:cNvPr id="3" name="TextBox 2"/>
          <p:cNvSpPr txBox="1"/>
          <p:nvPr/>
        </p:nvSpPr>
        <p:spPr>
          <a:xfrm>
            <a:off x="841248" y="995488"/>
            <a:ext cx="11063205" cy="5539978"/>
          </a:xfrm>
          <a:prstGeom prst="rect">
            <a:avLst/>
          </a:prstGeom>
          <a:noFill/>
        </p:spPr>
        <p:txBody>
          <a:bodyPr wrap="square" lIns="0" tIns="0" rIns="0" bIns="0" anchor="t">
            <a:spAutoFit/>
          </a:bodyPr>
          <a:lstStyle/>
          <a:p>
            <a:pPr marL="0" indent="0">
              <a:spcBef>
                <a:spcPts val="0"/>
              </a:spcBef>
              <a:spcAft>
                <a:spcPts val="400"/>
              </a:spcAft>
              <a:buNone/>
            </a:pPr>
            <a:r>
              <a:rPr sz="1500" b="1" dirty="0">
                <a:solidFill>
                  <a:srgbClr val="14142B"/>
                </a:solidFill>
                <a:latin typeface="Calibri"/>
              </a:rPr>
              <a:t>Reproducible four ways</a:t>
            </a:r>
          </a:p>
          <a:p>
            <a:pPr marL="0" indent="0">
              <a:spcBef>
                <a:spcPts val="0"/>
              </a:spcBef>
              <a:spcAft>
                <a:spcPts val="1200"/>
              </a:spcAft>
              <a:buNone/>
            </a:pPr>
            <a:r>
              <a:rPr sz="1500" b="0" dirty="0">
                <a:solidFill>
                  <a:srgbClr val="3D3D57"/>
                </a:solidFill>
                <a:latin typeface="Calibri"/>
              </a:rPr>
              <a:t>reproduce must hit 0.6206 on the sample. reproduce --full matches the artifact end-to-end. Samsung's own evaluation snippet (</a:t>
            </a:r>
            <a:r>
              <a:rPr sz="1500" b="0" dirty="0" err="1">
                <a:solidFill>
                  <a:srgbClr val="3D3D57"/>
                </a:solidFill>
                <a:latin typeface="Calibri"/>
              </a:rPr>
              <a:t>PrePostPipelineEncoder</a:t>
            </a:r>
            <a:r>
              <a:rPr sz="1500" b="0" dirty="0">
                <a:solidFill>
                  <a:srgbClr val="3D3D57"/>
                </a:solidFill>
                <a:latin typeface="Calibri"/>
              </a:rPr>
              <a:t>() with no arguments) gives 0.60952 exactly. score_csv.py --check re-scores the CSV in plain Python with no MTEB.</a:t>
            </a:r>
          </a:p>
          <a:p>
            <a:pPr marL="0" indent="0">
              <a:spcBef>
                <a:spcPts val="0"/>
              </a:spcBef>
              <a:spcAft>
                <a:spcPts val="400"/>
              </a:spcAft>
              <a:buNone/>
            </a:pPr>
            <a:r>
              <a:rPr sz="1500" b="1" dirty="0">
                <a:solidFill>
                  <a:srgbClr val="14142B"/>
                </a:solidFill>
                <a:latin typeface="Calibri"/>
              </a:rPr>
              <a:t>Security review</a:t>
            </a:r>
          </a:p>
          <a:p>
            <a:pPr marL="0" indent="0">
              <a:spcBef>
                <a:spcPts val="0"/>
              </a:spcBef>
              <a:spcAft>
                <a:spcPts val="1200"/>
              </a:spcAft>
              <a:buNone/>
            </a:pPr>
            <a:r>
              <a:rPr sz="1500" b="0" dirty="0">
                <a:solidFill>
                  <a:srgbClr val="3D3D57"/>
                </a:solidFill>
                <a:latin typeface="Calibri"/>
              </a:rPr>
              <a:t>Seven findings fixed, each with a test written first: terminal escape injection from indexed code, </a:t>
            </a:r>
            <a:r>
              <a:rPr sz="1500" b="0" dirty="0" err="1">
                <a:solidFill>
                  <a:srgbClr val="3D3D57"/>
                </a:solidFill>
                <a:latin typeface="Calibri"/>
              </a:rPr>
              <a:t>symlink</a:t>
            </a:r>
            <a:r>
              <a:rPr sz="1500" b="0" dirty="0">
                <a:solidFill>
                  <a:srgbClr val="3D3D57"/>
                </a:solidFill>
                <a:latin typeface="Calibri"/>
              </a:rPr>
              <a:t> escape, output paths overwriting the artifact, git option injection, root Docker user, assert-based SQL check, shell line endings. Secrets are never indexed.</a:t>
            </a:r>
          </a:p>
          <a:p>
            <a:pPr marL="0" indent="0">
              <a:spcBef>
                <a:spcPts val="0"/>
              </a:spcBef>
              <a:spcAft>
                <a:spcPts val="400"/>
              </a:spcAft>
              <a:buNone/>
            </a:pPr>
            <a:r>
              <a:rPr sz="1500" b="1" dirty="0">
                <a:solidFill>
                  <a:srgbClr val="14142B"/>
                </a:solidFill>
                <a:latin typeface="Calibri"/>
              </a:rPr>
              <a:t>Optional pre-built index</a:t>
            </a:r>
          </a:p>
          <a:p>
            <a:pPr marL="0" indent="0">
              <a:spcBef>
                <a:spcPts val="0"/>
              </a:spcBef>
              <a:spcAft>
                <a:spcPts val="0"/>
              </a:spcAft>
              <a:buNone/>
            </a:pPr>
            <a:r>
              <a:rPr sz="1500" b="0" dirty="0">
                <a:solidFill>
                  <a:srgbClr val="3D3D57"/>
                </a:solidFill>
                <a:latin typeface="Calibri"/>
              </a:rPr>
              <a:t>Indexing takes 45–60 min on a laptop. A judge can import a 35.7 MB file instead, checked against a pinned SHA-256. verify-index re-encodes 200 random snippets from scratch (min cosine 1.0000000).</a:t>
            </a:r>
            <a:endParaRPr lang="en-US" sz="1500" b="0" dirty="0">
              <a:solidFill>
                <a:srgbClr val="3D3D57"/>
              </a:solidFill>
              <a:latin typeface="Calibri"/>
            </a:endParaRPr>
          </a:p>
          <a:p>
            <a:pPr marL="0" indent="0">
              <a:spcBef>
                <a:spcPts val="0"/>
              </a:spcBef>
              <a:spcAft>
                <a:spcPts val="0"/>
              </a:spcAft>
              <a:buNone/>
            </a:pPr>
            <a:endParaRPr lang="en-IN" sz="1500" dirty="0">
              <a:solidFill>
                <a:srgbClr val="3D3D57"/>
              </a:solidFill>
              <a:latin typeface="Calibri"/>
            </a:endParaRPr>
          </a:p>
          <a:p>
            <a:pPr>
              <a:spcAft>
                <a:spcPts val="400"/>
              </a:spcAft>
            </a:pPr>
            <a:r>
              <a:rPr lang="en-US" sz="1500" b="1" dirty="0">
                <a:solidFill>
                  <a:srgbClr val="14142B"/>
                </a:solidFill>
              </a:rPr>
              <a:t>Tested across Python versions</a:t>
            </a:r>
          </a:p>
          <a:p>
            <a:pPr>
              <a:spcAft>
                <a:spcPts val="1200"/>
              </a:spcAft>
            </a:pPr>
            <a:r>
              <a:rPr lang="en-US" sz="1500" dirty="0">
                <a:solidFill>
                  <a:srgbClr val="3D3D57"/>
                </a:solidFill>
              </a:rPr>
              <a:t>Installed from an empty </a:t>
            </a:r>
            <a:r>
              <a:rPr lang="en-US" sz="1500" dirty="0" err="1">
                <a:solidFill>
                  <a:srgbClr val="3D3D57"/>
                </a:solidFill>
              </a:rPr>
              <a:t>virtualenv</a:t>
            </a:r>
            <a:r>
              <a:rPr lang="en-US" sz="1500" dirty="0">
                <a:solidFill>
                  <a:srgbClr val="3D3D57"/>
                </a:solidFill>
              </a:rPr>
              <a:t> on 3.11, 3.12 and 3.14. Vectors are bit-identical across all three. Docker is the fallback: offline, non-root, model and dataset baked in, 364 tests run during the build.</a:t>
            </a:r>
          </a:p>
          <a:p>
            <a:pPr>
              <a:spcAft>
                <a:spcPts val="400"/>
              </a:spcAft>
            </a:pPr>
            <a:r>
              <a:rPr lang="en-US" sz="1500" b="1" dirty="0">
                <a:solidFill>
                  <a:srgbClr val="14142B"/>
                </a:solidFill>
              </a:rPr>
              <a:t>Negative results, all measured and shipped</a:t>
            </a:r>
          </a:p>
          <a:p>
            <a:pPr>
              <a:spcAft>
                <a:spcPts val="1200"/>
              </a:spcAft>
            </a:pPr>
            <a:r>
              <a:rPr lang="en-US" sz="1500" dirty="0">
                <a:solidFill>
                  <a:srgbClr val="3D3D57"/>
                </a:solidFill>
              </a:rPr>
              <a:t>BM25, fusion, </a:t>
            </a:r>
            <a:r>
              <a:rPr lang="en-US" sz="1500" dirty="0" err="1">
                <a:solidFill>
                  <a:srgbClr val="3D3D57"/>
                </a:solidFill>
              </a:rPr>
              <a:t>rerank</a:t>
            </a:r>
            <a:r>
              <a:rPr lang="en-US" sz="1500" dirty="0">
                <a:solidFill>
                  <a:srgbClr val="3D3D57"/>
                </a:solidFill>
              </a:rPr>
              <a:t>, query stripping and NL summaries were built, scored with a paired bootstrap, and left one switch away in the repo. Every design choice on these slides can be defended with a number.</a:t>
            </a:r>
          </a:p>
          <a:p>
            <a:pPr>
              <a:spcAft>
                <a:spcPts val="400"/>
              </a:spcAft>
            </a:pPr>
            <a:r>
              <a:rPr lang="en-US" sz="1500" b="1" dirty="0">
                <a:solidFill>
                  <a:srgbClr val="14142B"/>
                </a:solidFill>
              </a:rPr>
              <a:t>The CSV scores identically to the tool</a:t>
            </a:r>
          </a:p>
          <a:p>
            <a:r>
              <a:rPr lang="en-US" sz="1500" dirty="0">
                <a:solidFill>
                  <a:srgbClr val="3D3D57"/>
                </a:solidFill>
              </a:rPr>
              <a:t>The batch rank path and the interactive path use the same encoder and correction. MTEB, the tool and the CSV all produce 0.60952 from the same weights.</a:t>
            </a:r>
          </a:p>
          <a:p>
            <a:pPr marL="0" indent="0">
              <a:spcBef>
                <a:spcPts val="0"/>
              </a:spcBef>
              <a:spcAft>
                <a:spcPts val="0"/>
              </a:spcAft>
              <a:buNone/>
            </a:pPr>
            <a:endParaRPr sz="1500" b="0" dirty="0">
              <a:solidFill>
                <a:srgbClr val="3D3D57"/>
              </a:solidFill>
              <a:latin typeface="Calibri"/>
            </a:endParaRPr>
          </a:p>
        </p:txBody>
      </p:sp>
    </p:spTree>
    <p:extLst>
      <p:ext uri="{BB962C8B-B14F-4D97-AF65-F5344CB8AC3E}">
        <p14:creationId xmlns:p14="http://schemas.microsoft.com/office/powerpoint/2010/main" val="2095517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a:xfrm>
            <a:off x="841248" y="320040"/>
            <a:ext cx="10515600" cy="822960"/>
          </a:xfrm>
        </p:spPr>
        <p:txBody>
          <a:bodyPr/>
          <a:lstStyle/>
          <a:p>
            <a:r>
              <a:rPr sz="3200" b="1">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a:xfrm>
            <a:off x="841248" y="1280160"/>
            <a:ext cx="10515600" cy="4937760"/>
          </a:xfrm>
        </p:spPr>
        <p:txBody>
          <a:bodyPr/>
          <a:lstStyle/>
          <a:p>
            <a:pPr marL="201168" indent="-201168">
              <a:buChar char="•"/>
            </a:pPr>
            <a:r>
              <a:rPr lang="en-US" sz="2000">
                <a:solidFill>
                  <a:srgbClr val="3D3D57"/>
                </a:solidFill>
                <a:latin typeface="Calibri"/>
              </a:rPr>
              <a:t>Working prototype code — public or shared GitHub repo (Y/N)</a:t>
            </a:r>
          </a:p>
          <a:p>
            <a:pPr marL="201168" indent="-201168">
              <a:buChar char="•"/>
            </a:pPr>
            <a:r>
              <a:rPr lang="en-US" sz="2000">
                <a:solidFill>
                  <a:srgbClr val="3D3D57"/>
                </a:solidFill>
                <a:latin typeface="Calibri"/>
              </a:rPr>
              <a:t>README with reproducible setup instructions (Y/N)</a:t>
            </a:r>
          </a:p>
          <a:p>
            <a:pPr marL="201168" indent="-201168">
              <a:buChar char="•"/>
            </a:pPr>
            <a:r>
              <a:rPr lang="en-US" sz="2000">
                <a:solidFill>
                  <a:srgbClr val="3D3D57"/>
                </a:solidFill>
                <a:latin typeface="Calibri"/>
              </a:rPr>
              <a:t>Demo video, max 5 minutes (YouTube or Drive link)</a:t>
            </a:r>
          </a:p>
          <a:p>
            <a:pPr marL="201168" indent="-201168">
              <a:buChar char="•"/>
            </a:pPr>
            <a:r>
              <a:rPr lang="en-US" sz="2000">
                <a:solidFill>
                  <a:srgbClr val="3D3D57"/>
                </a:solidFill>
                <a:latin typeface="Calibri"/>
              </a:rPr>
              <a:t>Presentation file (PPT or PDF) (Y/N)</a:t>
            </a:r>
          </a:p>
          <a:p>
            <a:pPr marL="201168" indent="-201168">
              <a:buChar char="•"/>
            </a:pPr>
            <a:r>
              <a:rPr lang="en-US" sz="2000">
                <a:solidFill>
                  <a:srgbClr val="3D3D57"/>
                </a:solidFill>
                <a:latin typeface="Calibri"/>
              </a:rPr>
              <a:t>Release tag PRISM_GENAI_HACKATHON_Y2026 on the final commit (Y/N)</a:t>
            </a:r>
          </a:p>
          <a:p>
            <a:pPr marL="201168" indent="-201168">
              <a:buChar char="•"/>
            </a:pPr>
            <a:r>
              <a:rPr lang="en-US" sz="2000">
                <a:solidFill>
                  <a:srgbClr val="3D3D57"/>
                </a:solidFill>
                <a:latin typeface="Calibri"/>
              </a:rPr>
              <a:t>appsretrieval_results.json attached to the release (Y/N)</a:t>
            </a:r>
          </a:p>
        </p:txBody>
      </p:sp>
    </p:spTree>
    <p:extLst>
      <p:ext uri="{BB962C8B-B14F-4D97-AF65-F5344CB8AC3E}">
        <p14:creationId xmlns:p14="http://schemas.microsoft.com/office/powerpoint/2010/main" val="180699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3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128</TotalTime>
  <Words>3036</Words>
  <Application>Microsoft Office PowerPoint</Application>
  <PresentationFormat>Widescreen</PresentationFormat>
  <Paragraphs>256</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Theme</vt:lpstr>
      <vt:lpstr>Existing Solutions &amp; Gaps</vt:lpstr>
      <vt:lpstr>Our Solutions &amp; Architecture Diagram</vt:lpstr>
      <vt:lpstr>How the score went from 0.11 to 0.61</vt:lpstr>
      <vt:lpstr>What did not work</vt:lpstr>
      <vt:lpstr>Correcting for hub snippets</vt:lpstr>
      <vt:lpstr>P1: retrieval across versions</vt:lpstr>
      <vt:lpstr>Bonus: evolutionary retrieval</vt:lpstr>
      <vt:lpstr>Demo &amp; Product Walkthrough</vt:lpstr>
      <vt:lpstr>Tools and tech stack used</vt:lpstr>
      <vt:lpstr>Impact &amp; Use case</vt:lpstr>
      <vt:lpstr>Innovation highlights, results and limitations</vt:lpstr>
      <vt:lpstr>What’s next</vt:lpstr>
      <vt:lpstr>Brownie points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Kamneev Singh</dc:creator>
  <cp:keywords>PRISM SUBMISSION</cp:keywords>
  <cp:lastModifiedBy>KAMNEEV SINGH</cp:lastModifiedBy>
  <cp:revision>12</cp:revision>
  <dcterms:created xsi:type="dcterms:W3CDTF">2026-09-07T12:01:01Z</dcterms:created>
  <dcterms:modified xsi:type="dcterms:W3CDTF">2026-09-30T12:21:28Z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